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498b3af4be24b7e" /><Relationship Type="http://schemas.openxmlformats.org/officeDocument/2006/relationships/extended-properties" Target="/docProps/app.xml" Id="R14ccaed352c543b3" /><Relationship Type="http://schemas.openxmlformats.org/officeDocument/2006/relationships/officeDocument" Target="/ppt/presentation.xml" Id="Rd4ca5714a5c54b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e057cc9d2e34883"/>
  </p:sldMasterIdLst>
  <p:notesMasterIdLst>
    <p:notesMasterId xmlns:r="http://schemas.openxmlformats.org/officeDocument/2006/relationships" r:id="R2f87b2d1a9a84fb6"/>
  </p:notesMasterIdLst>
  <p:sldIdLst>
    <p:sldId xmlns:r="http://schemas.openxmlformats.org/officeDocument/2006/relationships" id="256" r:id="Rd05a22fa46454b26"/>
    <p:sldId xmlns:r="http://schemas.openxmlformats.org/officeDocument/2006/relationships" id="257" r:id="Rabcd1d3a16334529"/>
    <p:sldId xmlns:r="http://schemas.openxmlformats.org/officeDocument/2006/relationships" id="258" r:id="Ra1ba5617d02b48e8"/>
    <p:sldId xmlns:r="http://schemas.openxmlformats.org/officeDocument/2006/relationships" id="259" r:id="R208bdfa657d14736"/>
    <p:sldId xmlns:r="http://schemas.openxmlformats.org/officeDocument/2006/relationships" id="260" r:id="R24adeb2b6b54417f"/>
    <p:sldId xmlns:r="http://schemas.openxmlformats.org/officeDocument/2006/relationships" id="261" r:id="Rf5cf70c5331a4ecc"/>
    <p:sldId xmlns:r="http://schemas.openxmlformats.org/officeDocument/2006/relationships" id="262" r:id="Rfe2f8aa27bc44cd0"/>
    <p:sldId xmlns:r="http://schemas.openxmlformats.org/officeDocument/2006/relationships" id="263" r:id="Rf08139b2bbe64291"/>
    <p:sldId xmlns:r="http://schemas.openxmlformats.org/officeDocument/2006/relationships" id="264" r:id="R91157f878c364795"/>
    <p:sldId xmlns:r="http://schemas.openxmlformats.org/officeDocument/2006/relationships" id="265" r:id="Rbebcc06e813540c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79f18e87644f93" /><Relationship Type="http://schemas.openxmlformats.org/officeDocument/2006/relationships/slideMaster" Target="/ppt/slideMasters/slideMaster1.xml" Id="R6e057cc9d2e34883" /><Relationship Type="http://schemas.openxmlformats.org/officeDocument/2006/relationships/notesMaster" Target="/ppt/notesMasters/notesMaster1.xml" Id="R2f87b2d1a9a84fb6" /><Relationship Type="http://schemas.openxmlformats.org/officeDocument/2006/relationships/presProps" Target="/ppt/presProps.xml" Id="R3be7588562024e35" /><Relationship Type="http://schemas.openxmlformats.org/officeDocument/2006/relationships/tableStyles" Target="/ppt/tableStyles.xml" Id="Rb5e2c193f8684f0e" /><Relationship Type="http://schemas.openxmlformats.org/officeDocument/2006/relationships/slide" Target="/ppt/slides/slide1.xml" Id="Rd05a22fa46454b26" /><Relationship Type="http://schemas.openxmlformats.org/officeDocument/2006/relationships/slide" Target="/ppt/slides/slide2.xml" Id="Rabcd1d3a16334529" /><Relationship Type="http://schemas.openxmlformats.org/officeDocument/2006/relationships/slide" Target="/ppt/slides/slide3.xml" Id="Ra1ba5617d02b48e8" /><Relationship Type="http://schemas.openxmlformats.org/officeDocument/2006/relationships/slide" Target="/ppt/slides/slide4.xml" Id="R208bdfa657d14736" /><Relationship Type="http://schemas.openxmlformats.org/officeDocument/2006/relationships/slide" Target="/ppt/slides/slide5.xml" Id="R24adeb2b6b54417f" /><Relationship Type="http://schemas.openxmlformats.org/officeDocument/2006/relationships/slide" Target="/ppt/slides/slide6.xml" Id="Rf5cf70c5331a4ecc" /><Relationship Type="http://schemas.openxmlformats.org/officeDocument/2006/relationships/slide" Target="/ppt/slides/slide7.xml" Id="Rfe2f8aa27bc44cd0" /><Relationship Type="http://schemas.openxmlformats.org/officeDocument/2006/relationships/slide" Target="/ppt/slides/slide8.xml" Id="Rf08139b2bbe64291" /><Relationship Type="http://schemas.openxmlformats.org/officeDocument/2006/relationships/slide" Target="/ppt/slides/slide9.xml" Id="R91157f878c364795" /><Relationship Type="http://schemas.openxmlformats.org/officeDocument/2006/relationships/slide" Target="/ppt/slides/slide10.xml" Id="Rbebcc06e813540c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d6b7cf0516f4b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1eb35ed11b04dbc" /><Relationship Type="http://schemas.openxmlformats.org/officeDocument/2006/relationships/notesMaster" Target="/ppt/notesMasters/notesMaster1.xml" Id="R83e5effbb78942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9600d42c28d4eff" /><Relationship Type="http://schemas.openxmlformats.org/officeDocument/2006/relationships/notesMaster" Target="/ppt/notesMasters/notesMaster1.xml" Id="Radf05a18b2264da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19bc8455263413c" /><Relationship Type="http://schemas.openxmlformats.org/officeDocument/2006/relationships/notesMaster" Target="/ppt/notesMasters/notesMaster1.xml" Id="Rcb324cd2802e49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34b4e649a1454c" /><Relationship Type="http://schemas.openxmlformats.org/officeDocument/2006/relationships/notesMaster" Target="/ppt/notesMasters/notesMaster1.xml" Id="R48aad3fa64504b4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7a28fabc65e4594" /><Relationship Type="http://schemas.openxmlformats.org/officeDocument/2006/relationships/notesMaster" Target="/ppt/notesMasters/notesMaster1.xml" Id="R18c95bd50fb24ce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5be046237834367" /><Relationship Type="http://schemas.openxmlformats.org/officeDocument/2006/relationships/notesMaster" Target="/ppt/notesMasters/notesMaster1.xml" Id="Rb54636744ac34ca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9b5d79bcd2741b6" /><Relationship Type="http://schemas.openxmlformats.org/officeDocument/2006/relationships/notesMaster" Target="/ppt/notesMasters/notesMaster1.xml" Id="Re8fb908283a1467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2090f80d53c43c0" /><Relationship Type="http://schemas.openxmlformats.org/officeDocument/2006/relationships/notesMaster" Target="/ppt/notesMasters/notesMaster1.xml" Id="R56d5d628a64f440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717b089344745f6" /><Relationship Type="http://schemas.openxmlformats.org/officeDocument/2006/relationships/notesMaster" Target="/ppt/notesMasters/notesMaster1.xml" Id="R5b2a3afcc24146c4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ff10f2de59b4db7" /><Relationship Type="http://schemas.openxmlformats.org/officeDocument/2006/relationships/notesMaster" Target="/ppt/notesMasters/notesMaster1.xml" Id="R6d52baaa7a2146c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 concept image: case-assets/crown-ivy/final-v2/assets/CI26-022.png</a:t>
            </a:r>
          </a:p>
          <a:p xmlns:a="http://schemas.openxmlformats.org/drawingml/2006/main">
            <a:r>
              <a:t>Customer task brief and approved v2 proposal content.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Crown &amp; Ivy customer requirement, Feishu document and six-page customer PDF.</a:t>
            </a:r>
          </a:p>
          <a:p xmlns:a="http://schemas.openxmlformats.org/drawingml/2006/main">
            <a:r>
              <a:t>Palette: customer-provided Fall 2026 trend images.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SRCH-DFS-001: US keyword-volume fields, 2025-07 to 2026-06.</a:t>
            </a:r>
          </a:p>
          <a:p xmlns:a="http://schemas.openxmlformats.org/drawingml/2006/main">
            <a:r>
              <a:t>RT-DIL-001/002: Dillard's public product pages observed 2026-08-07.</a:t>
            </a:r>
          </a:p>
          <a:p xmlns:a="http://schemas.openxmlformats.org/drawingml/2006/main">
            <a:r>
              <a:t>Customer trend images: Feishu requirement document, customer input.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Confirmed direction names and descriptions from Crown &amp; Ivy final proposal v2.</a:t>
            </a:r>
          </a:p>
          <a:p xmlns:a="http://schemas.openxmlformats.org/drawingml/2006/main">
            <a:r>
              <a:t>Retail and social evidence catalog: 03a_evidence_catalog.md.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AI-generated concept: CI26-001; sources mapped in final-v2/manifest.js (EC-AMZ-001, EC-TTS-001).</a:t>
            </a:r>
          </a:p>
          <a:p xmlns:a="http://schemas.openxmlformats.org/drawingml/2006/main">
            <a:r>
              <a:t>AI-generated concept: CI26-002; sources mapped in final-v2/manifest.js (EC-AMZ-001, EC-TTS-001).</a:t>
            </a:r>
          </a:p>
          <a:p xmlns:a="http://schemas.openxmlformats.org/drawingml/2006/main">
            <a:r>
              <a:t>AI-generated concept: CI26-003; sources mapped in final-v2/manifest.js (EC-AMZ-001, EC-TTS-001).</a:t>
            </a:r>
          </a:p>
          <a:p xmlns:a="http://schemas.openxmlformats.org/drawingml/2006/main">
            <a:r>
              <a:t>AI-generated concept: CI26-004; sources mapped in final-v2/manifest.js (EC-AMZ-001).</a:t>
            </a:r>
          </a:p>
          <a:p xmlns:a="http://schemas.openxmlformats.org/drawingml/2006/main">
            <a:r>
              <a:t>AI-generated concept: CI26-005; sources mapped in final-v2/manifest.js (SM-PIN-002).</a:t>
            </a:r>
          </a:p>
          <a:p xmlns:a="http://schemas.openxmlformats.org/drawingml/2006/main">
            <a:r>
              <a:t>AI-generated concept: CI26-006; sources mapped in final-v2/manifest.js (EC-AMZ-001, SM-PIN-001).</a:t>
            </a:r>
          </a:p>
          <a:p xmlns:a="http://schemas.openxmlformats.org/drawingml/2006/main">
            <a:r>
              <a:t>AI-generated concept: CI26-007; sources mapped in final-v2/manifest.js (EC-TTS-001, SM-PIN-003).</a:t>
            </a:r>
          </a:p>
          <a:p xmlns:a="http://schemas.openxmlformats.org/drawingml/2006/main">
            <a:r>
              <a:t>AI-generated concept: CI26-008; sources mapped in final-v2/manifest.js (EC-AMZ-001, SM-PIN-002).</a:t>
            </a:r>
          </a:p>
          <a:p xmlns:a="http://schemas.openxmlformats.org/drawingml/2006/main">
            <a:r>
              <a:t>AI-generated concept: CI26-009; sources mapped in final-v2/manifest.js (EC-TTS-001, SM-PIN-001).</a:t>
            </a:r>
          </a:p>
          <a:p xmlns:a="http://schemas.openxmlformats.org/drawingml/2006/main">
            <a:r>
              <a:t>AI-generated concept: CI26-010; sources mapped in final-v2/manifest.js (EC-AMZ-001, SM-PIN-001).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AI-generated concept: CI26-011; sources mapped in final-v2/manifest.js (SM-PIN-001).</a:t>
            </a:r>
          </a:p>
          <a:p xmlns:a="http://schemas.openxmlformats.org/drawingml/2006/main">
            <a:r>
              <a:t>AI-generated concept: CI26-012; sources mapped in final-v2/manifest.js (EC-AMZ-001, SM-PIN-001).</a:t>
            </a:r>
          </a:p>
          <a:p xmlns:a="http://schemas.openxmlformats.org/drawingml/2006/main">
            <a:r>
              <a:t>AI-generated concept: CI26-013; sources mapped in final-v2/manifest.js (SM-PIN-005).</a:t>
            </a:r>
          </a:p>
          <a:p xmlns:a="http://schemas.openxmlformats.org/drawingml/2006/main">
            <a:r>
              <a:t>AI-generated concept: CI26-014; sources mapped in final-v2/manifest.js (EC-AMZ-001, SM-PIN-005).</a:t>
            </a:r>
          </a:p>
          <a:p xmlns:a="http://schemas.openxmlformats.org/drawingml/2006/main">
            <a:r>
              <a:t>AI-generated concept: CI26-015; sources mapped in final-v2/manifest.js (SM-PIN-001, SM-PIN-005).</a:t>
            </a:r>
          </a:p>
          <a:p xmlns:a="http://schemas.openxmlformats.org/drawingml/2006/main">
            <a:r>
              <a:t>AI-generated concept: CI26-016; sources mapped in final-v2/manifest.js (SM-PIN-001, SM-PIN-005).</a:t>
            </a:r>
          </a:p>
          <a:p xmlns:a="http://schemas.openxmlformats.org/drawingml/2006/main">
            <a:r>
              <a:t>AI-generated concept: CI26-017; sources mapped in final-v2/manifest.js (SM-PIN-001).</a:t>
            </a:r>
          </a:p>
          <a:p xmlns:a="http://schemas.openxmlformats.org/drawingml/2006/main">
            <a:r>
              <a:t>AI-generated concept: CI26-018; sources mapped in final-v2/manifest.js (SM-PIN-001, SM-PIN-005).</a:t>
            </a:r>
          </a:p>
          <a:p xmlns:a="http://schemas.openxmlformats.org/drawingml/2006/main">
            <a:r>
              <a:t>AI-generated concept: CI26-019; sources mapped in final-v2/manifest.js (EC-AMZ-001, SM-PIN-001).</a:t>
            </a:r>
          </a:p>
          <a:p xmlns:a="http://schemas.openxmlformats.org/drawingml/2006/main">
            <a:r>
              <a:t>AI-generated concept: CI26-020; sources mapped in final-v2/manifest.js (SM-PIN-001).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AI-generated concept: CI26-021; sources mapped in final-v2/manifest.js (SM-PIN-001, SM-PIN-005).</a:t>
            </a:r>
          </a:p>
          <a:p xmlns:a="http://schemas.openxmlformats.org/drawingml/2006/main">
            <a:r>
              <a:t>AI-generated concept: CI26-022; sources mapped in final-v2/manifest.js (SM-PIN-001, SM-PIN-002).</a:t>
            </a:r>
          </a:p>
          <a:p xmlns:a="http://schemas.openxmlformats.org/drawingml/2006/main">
            <a:r>
              <a:t>AI-generated concept: CI26-023; sources mapped in final-v2/manifest.js (SM-PIN-001, SM-PIN-002).</a:t>
            </a:r>
          </a:p>
          <a:p xmlns:a="http://schemas.openxmlformats.org/drawingml/2006/main">
            <a:r>
              <a:t>AI-generated concept: CI26-024; sources mapped in final-v2/manifest.js (SM-PIN-001, SM-PIN-005).</a:t>
            </a:r>
          </a:p>
          <a:p xmlns:a="http://schemas.openxmlformats.org/drawingml/2006/main">
            <a:r>
              <a:t>AI-generated concept: CI26-025; sources mapped in final-v2/manifest.js (EC-AMZ-001, SM-PIN-001).</a:t>
            </a:r>
          </a:p>
          <a:p xmlns:a="http://schemas.openxmlformats.org/drawingml/2006/main">
            <a:r>
              <a:t>AI-generated concept: CI26-026; sources mapped in final-v2/manifest.js (SM-PIN-005).</a:t>
            </a:r>
          </a:p>
          <a:p xmlns:a="http://schemas.openxmlformats.org/drawingml/2006/main">
            <a:r>
              <a:t>AI-generated concept: CI26-027; sources mapped in final-v2/manifest.js (SM-PIN-002).</a:t>
            </a:r>
          </a:p>
          <a:p xmlns:a="http://schemas.openxmlformats.org/drawingml/2006/main">
            <a:r>
              <a:t>AI-generated concept: CI26-028; sources mapped in final-v2/manifest.js (SM-PIN-002).</a:t>
            </a:r>
          </a:p>
          <a:p xmlns:a="http://schemas.openxmlformats.org/drawingml/2006/main">
            <a:r>
              <a:t>AI-generated concept: CI26-029; sources mapped in final-v2/manifest.js (SM-PIN-002).</a:t>
            </a:r>
          </a:p>
          <a:p xmlns:a="http://schemas.openxmlformats.org/drawingml/2006/main">
            <a:r>
              <a:t>AI-generated concept: CI26-030; sources mapped in final-v2/manifest.js (SM-PIN-002).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AI-generated concept: CI26-031; sources mapped in final-v2/manifest.js (SM-PIN-002).</a:t>
            </a:r>
          </a:p>
          <a:p xmlns:a="http://schemas.openxmlformats.org/drawingml/2006/main">
            <a:r>
              <a:t>AI-generated concept: CI26-032; sources mapped in final-v2/manifest.js (SM-PIN-002).</a:t>
            </a:r>
          </a:p>
          <a:p xmlns:a="http://schemas.openxmlformats.org/drawingml/2006/main">
            <a:r>
              <a:t>AI-generated concept: CI26-033; sources mapped in final-v2/manifest.js (SM-PIN-002, SM-PIN-005).</a:t>
            </a:r>
          </a:p>
          <a:p xmlns:a="http://schemas.openxmlformats.org/drawingml/2006/main">
            <a:r>
              <a:t>AI-generated concept: CI26-034; sources mapped in final-v2/manifest.js (SM-PIN-002).</a:t>
            </a:r>
          </a:p>
          <a:p xmlns:a="http://schemas.openxmlformats.org/drawingml/2006/main">
            <a:r>
              <a:t>AI-generated concept: CI26-035; sources mapped in final-v2/manifest.js (SM-PIN-002, SM-PIN-003).</a:t>
            </a:r>
          </a:p>
          <a:p xmlns:a="http://schemas.openxmlformats.org/drawingml/2006/main">
            <a:r>
              <a:t>AI-generated concept: CI26-036; sources mapped in final-v2/manifest.js (SM-PIN-002, SM-PIN-003).</a:t>
            </a:r>
          </a:p>
          <a:p xmlns:a="http://schemas.openxmlformats.org/drawingml/2006/main">
            <a:r>
              <a:t>AI-generated concept: CI26-037; sources mapped in final-v2/manifest.js (SM-PIN-005).</a:t>
            </a:r>
          </a:p>
          <a:p xmlns:a="http://schemas.openxmlformats.org/drawingml/2006/main">
            <a:r>
              <a:t>AI-generated concept: CI26-038; sources mapped in final-v2/manifest.js (SM-PIN-006).</a:t>
            </a:r>
          </a:p>
          <a:p xmlns:a="http://schemas.openxmlformats.org/drawingml/2006/main">
            <a:r>
              <a:t>AI-generated concept: CI26-039; sources mapped in final-v2/manifest.js (SM-PIN-005, SM-PIN-006).</a:t>
            </a:r>
          </a:p>
          <a:p xmlns:a="http://schemas.openxmlformats.org/drawingml/2006/main">
            <a:r>
              <a:t>AI-generated concept: CI26-040; sources mapped in final-v2/manifest.js (SM-PIN-005).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AI-generated concept: CI26-041; sources mapped in final-v2/manifest.js (SM-PIN-003, SM-PIN-005).</a:t>
            </a:r>
          </a:p>
          <a:p xmlns:a="http://schemas.openxmlformats.org/drawingml/2006/main">
            <a:r>
              <a:t>AI-generated concept: CI26-042; sources mapped in final-v2/manifest.js (SM-PIN-003, SM-PIN-006).</a:t>
            </a:r>
          </a:p>
          <a:p xmlns:a="http://schemas.openxmlformats.org/drawingml/2006/main">
            <a:r>
              <a:t>AI-generated concept: CI26-043; sources mapped in final-v2/manifest.js (SM-PIN-003, SM-PIN-005).</a:t>
            </a:r>
          </a:p>
          <a:p xmlns:a="http://schemas.openxmlformats.org/drawingml/2006/main">
            <a:r>
              <a:t>AI-generated concept: CI26-044; sources mapped in final-v2/manifest.js (SM-PIN-003, SM-PIN-006).</a:t>
            </a:r>
          </a:p>
          <a:p xmlns:a="http://schemas.openxmlformats.org/drawingml/2006/main">
            <a:r>
              <a:t>AI-generated concept: CI26-045; sources mapped in final-v2/manifest.js (SM-PIN-003).</a:t>
            </a:r>
          </a:p>
          <a:p xmlns:a="http://schemas.openxmlformats.org/drawingml/2006/main">
            <a:r>
              <a:t>AI-generated concept: CI26-046; sources mapped in final-v2/manifest.js (SM-PIN-003).</a:t>
            </a:r>
          </a:p>
          <a:p xmlns:a="http://schemas.openxmlformats.org/drawingml/2006/main">
            <a:r>
              <a:t>AI-generated concept: CI26-047; sources mapped in final-v2/manifest.js (SM-PIN-003).</a:t>
            </a:r>
          </a:p>
          <a:p xmlns:a="http://schemas.openxmlformats.org/drawingml/2006/main">
            <a:r>
              <a:t>AI-generated concept: CI26-048; sources mapped in final-v2/manifest.js (SM-PIN-003).</a:t>
            </a:r>
          </a:p>
          <a:p xmlns:a="http://schemas.openxmlformats.org/drawingml/2006/main">
            <a:r>
              <a:t>AI-generated concept: CI26-049; sources mapped in final-v2/manifest.js (SM-PIN-003).</a:t>
            </a:r>
          </a:p>
          <a:p xmlns:a="http://schemas.openxmlformats.org/drawingml/2006/main">
            <a:r>
              <a:t>AI-generated concept: CI26-050; sources mapped in final-v2/manifest.js (SM-PIN-003).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Crown &amp; Ivy evidence catalog: 03a_evidence_catalog.md.</a:t>
            </a:r>
          </a:p>
          <a:p xmlns:a="http://schemas.openxmlformats.org/drawingml/2006/main">
            <a:r>
              <a:t>Final proposal v2 source and data-gap section.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1f573e57ae4c0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7d6f813a7ea4cb5" /><Relationship Type="http://schemas.openxmlformats.org/officeDocument/2006/relationships/slideLayout" Target="/ppt/slideLayouts/slideLayout1.xml" Id="Rc1cc55d75a5549d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1cc55d75a5549d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5d08cdd7d3f4290" /><Relationship Type="http://schemas.openxmlformats.org/officeDocument/2006/relationships/image" Target="/ppt/media/image.jpeg" Id="Re3b72af88c12498f" /><Relationship Type="http://schemas.openxmlformats.org/officeDocument/2006/relationships/notesSlide" Target="/ppt/notesSlides/notesSlide1.xml" Id="R3596b21294d24c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ce60c507854ffc" /><Relationship Type="http://schemas.openxmlformats.org/officeDocument/2006/relationships/notesSlide" Target="/ppt/notesSlides/notesSlide2.xml" Id="R7d6f3d0f40c14b6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5e356f44024244" /><Relationship Type="http://schemas.openxmlformats.org/officeDocument/2006/relationships/image" Target="/ppt/media/image.png" Id="Rdc87cbb2b99e426c" /><Relationship Type="http://schemas.openxmlformats.org/officeDocument/2006/relationships/image" Target="/ppt/media/image2.png" Id="Rfb4cfa1ee4c54067" /><Relationship Type="http://schemas.openxmlformats.org/officeDocument/2006/relationships/image" Target="/ppt/media/image3.png" Id="R03adb76152dc4b94" /><Relationship Type="http://schemas.openxmlformats.org/officeDocument/2006/relationships/image" Target="/ppt/media/image4.png" Id="Rb6bc607cc9ef4429" /><Relationship Type="http://schemas.openxmlformats.org/officeDocument/2006/relationships/notesSlide" Target="/ppt/notesSlides/notesSlide3.xml" Id="R64fd1a513937441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1e15bf0f24459d" /><Relationship Type="http://schemas.openxmlformats.org/officeDocument/2006/relationships/notesSlide" Target="/ppt/notesSlides/notesSlide4.xml" Id="R14b119a7185044b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65f0d5e7524498" /><Relationship Type="http://schemas.openxmlformats.org/officeDocument/2006/relationships/image" Target="/ppt/media/image2.jpeg" Id="R9308843ec6854b3b" /><Relationship Type="http://schemas.openxmlformats.org/officeDocument/2006/relationships/image" Target="/ppt/media/image3.jpeg" Id="R491d2e3b1a7145ed" /><Relationship Type="http://schemas.openxmlformats.org/officeDocument/2006/relationships/image" Target="/ppt/media/image4.jpeg" Id="Ra1036e68f2734330" /><Relationship Type="http://schemas.openxmlformats.org/officeDocument/2006/relationships/image" Target="/ppt/media/image5.jpeg" Id="Rd6d59e0f8ad54598" /><Relationship Type="http://schemas.openxmlformats.org/officeDocument/2006/relationships/image" Target="/ppt/media/image6.jpeg" Id="R63f93379fb0a4105" /><Relationship Type="http://schemas.openxmlformats.org/officeDocument/2006/relationships/image" Target="/ppt/media/image7.jpeg" Id="Rb31771a7619a410c" /><Relationship Type="http://schemas.openxmlformats.org/officeDocument/2006/relationships/image" Target="/ppt/media/image8.jpeg" Id="R0ca02a60aeba4cad" /><Relationship Type="http://schemas.openxmlformats.org/officeDocument/2006/relationships/image" Target="/ppt/media/image9.jpeg" Id="Rb471b2266eed4b10" /><Relationship Type="http://schemas.openxmlformats.org/officeDocument/2006/relationships/image" Target="/ppt/media/image10.jpeg" Id="Rd40e97ca76fe44a5" /><Relationship Type="http://schemas.openxmlformats.org/officeDocument/2006/relationships/image" Target="/ppt/media/image11.jpeg" Id="Rf947811988864a51" /><Relationship Type="http://schemas.openxmlformats.org/officeDocument/2006/relationships/notesSlide" Target="/ppt/notesSlides/notesSlide5.xml" Id="Ra8b9efdac1c8461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508ffda0224417" /><Relationship Type="http://schemas.openxmlformats.org/officeDocument/2006/relationships/image" Target="/ppt/media/image12.jpeg" Id="R6293cdbc0d2a4ec2" /><Relationship Type="http://schemas.openxmlformats.org/officeDocument/2006/relationships/image" Target="/ppt/media/image13.jpeg" Id="R4d1a4142712c4f7d" /><Relationship Type="http://schemas.openxmlformats.org/officeDocument/2006/relationships/image" Target="/ppt/media/image14.jpeg" Id="R0f9d067e7dd34dbf" /><Relationship Type="http://schemas.openxmlformats.org/officeDocument/2006/relationships/image" Target="/ppt/media/image15.jpeg" Id="Rcc3bde483e574754" /><Relationship Type="http://schemas.openxmlformats.org/officeDocument/2006/relationships/image" Target="/ppt/media/image16.jpeg" Id="Raad9ff5187a24c86" /><Relationship Type="http://schemas.openxmlformats.org/officeDocument/2006/relationships/image" Target="/ppt/media/image17.jpeg" Id="R7765a80045bf4d84" /><Relationship Type="http://schemas.openxmlformats.org/officeDocument/2006/relationships/image" Target="/ppt/media/image18.jpeg" Id="R031f8375185a4a51" /><Relationship Type="http://schemas.openxmlformats.org/officeDocument/2006/relationships/image" Target="/ppt/media/image19.jpeg" Id="Rdbe0705d7a6243dd" /><Relationship Type="http://schemas.openxmlformats.org/officeDocument/2006/relationships/image" Target="/ppt/media/image20.jpeg" Id="R8d9651396d9a4560" /><Relationship Type="http://schemas.openxmlformats.org/officeDocument/2006/relationships/image" Target="/ppt/media/image21.jpeg" Id="Rf4b0f64f3e1940ea" /><Relationship Type="http://schemas.openxmlformats.org/officeDocument/2006/relationships/notesSlide" Target="/ppt/notesSlides/notesSlide6.xml" Id="Rcb7c31d7e4d5426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00f90baea64579" /><Relationship Type="http://schemas.openxmlformats.org/officeDocument/2006/relationships/image" Target="/ppt/media/image22.jpeg" Id="R78955141892c406f" /><Relationship Type="http://schemas.openxmlformats.org/officeDocument/2006/relationships/image" Target="/ppt/media/image23.jpeg" Id="R338a83bee4ff482d" /><Relationship Type="http://schemas.openxmlformats.org/officeDocument/2006/relationships/image" Target="/ppt/media/image24.jpeg" Id="R8a4005f0ac694f89" /><Relationship Type="http://schemas.openxmlformats.org/officeDocument/2006/relationships/image" Target="/ppt/media/image25.jpeg" Id="Re99026dacbe8436c" /><Relationship Type="http://schemas.openxmlformats.org/officeDocument/2006/relationships/image" Target="/ppt/media/image26.jpeg" Id="R1b46dd3985874b4e" /><Relationship Type="http://schemas.openxmlformats.org/officeDocument/2006/relationships/image" Target="/ppt/media/image27.jpeg" Id="R392036edb6b946e7" /><Relationship Type="http://schemas.openxmlformats.org/officeDocument/2006/relationships/image" Target="/ppt/media/image28.jpeg" Id="R0c7e33e87e3c4f44" /><Relationship Type="http://schemas.openxmlformats.org/officeDocument/2006/relationships/image" Target="/ppt/media/image29.jpeg" Id="R65a8c4d92e454e61" /><Relationship Type="http://schemas.openxmlformats.org/officeDocument/2006/relationships/image" Target="/ppt/media/image30.jpeg" Id="Re0f5f50d9ab94410" /><Relationship Type="http://schemas.openxmlformats.org/officeDocument/2006/relationships/image" Target="/ppt/media/image31.jpeg" Id="R2b00f8d2f5e148b5" /><Relationship Type="http://schemas.openxmlformats.org/officeDocument/2006/relationships/notesSlide" Target="/ppt/notesSlides/notesSlide7.xml" Id="Rbbc95ce9983e458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a20484c03e40c7" /><Relationship Type="http://schemas.openxmlformats.org/officeDocument/2006/relationships/image" Target="/ppt/media/image32.jpeg" Id="Rf623c8e915854f95" /><Relationship Type="http://schemas.openxmlformats.org/officeDocument/2006/relationships/image" Target="/ppt/media/image33.jpeg" Id="Rc7b5430d506e47bc" /><Relationship Type="http://schemas.openxmlformats.org/officeDocument/2006/relationships/image" Target="/ppt/media/image34.jpeg" Id="R537219296c2046ff" /><Relationship Type="http://schemas.openxmlformats.org/officeDocument/2006/relationships/image" Target="/ppt/media/image35.jpeg" Id="R630132ed2d684532" /><Relationship Type="http://schemas.openxmlformats.org/officeDocument/2006/relationships/image" Target="/ppt/media/image36.jpeg" Id="R894197e6dde84279" /><Relationship Type="http://schemas.openxmlformats.org/officeDocument/2006/relationships/image" Target="/ppt/media/image37.jpeg" Id="Rc3c8da2d05bc4cce" /><Relationship Type="http://schemas.openxmlformats.org/officeDocument/2006/relationships/image" Target="/ppt/media/image38.jpeg" Id="Rb45812d13ba14f40" /><Relationship Type="http://schemas.openxmlformats.org/officeDocument/2006/relationships/image" Target="/ppt/media/image39.jpeg" Id="R61f6f9ebdf044b4e" /><Relationship Type="http://schemas.openxmlformats.org/officeDocument/2006/relationships/image" Target="/ppt/media/image40.jpeg" Id="R99cf4441588b44ba" /><Relationship Type="http://schemas.openxmlformats.org/officeDocument/2006/relationships/image" Target="/ppt/media/image41.jpeg" Id="R8b07bffc466a4099" /><Relationship Type="http://schemas.openxmlformats.org/officeDocument/2006/relationships/notesSlide" Target="/ppt/notesSlides/notesSlide8.xml" Id="Rbfdab91435d649f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6940c2c652422a" /><Relationship Type="http://schemas.openxmlformats.org/officeDocument/2006/relationships/image" Target="/ppt/media/image42.jpeg" Id="R33fc705a979943a6" /><Relationship Type="http://schemas.openxmlformats.org/officeDocument/2006/relationships/image" Target="/ppt/media/image43.jpeg" Id="R114ff92f1cd14197" /><Relationship Type="http://schemas.openxmlformats.org/officeDocument/2006/relationships/image" Target="/ppt/media/image44.jpeg" Id="R699af08537044758" /><Relationship Type="http://schemas.openxmlformats.org/officeDocument/2006/relationships/image" Target="/ppt/media/image45.jpeg" Id="R68960ab06dc14394" /><Relationship Type="http://schemas.openxmlformats.org/officeDocument/2006/relationships/image" Target="/ppt/media/image46.jpeg" Id="R259e1dd977914de8" /><Relationship Type="http://schemas.openxmlformats.org/officeDocument/2006/relationships/image" Target="/ppt/media/image47.jpeg" Id="Rd1f5976c1cd3427b" /><Relationship Type="http://schemas.openxmlformats.org/officeDocument/2006/relationships/image" Target="/ppt/media/image48.jpeg" Id="Rc4811e80e1114c91" /><Relationship Type="http://schemas.openxmlformats.org/officeDocument/2006/relationships/image" Target="/ppt/media/image49.jpeg" Id="R0ae405ede339435f" /><Relationship Type="http://schemas.openxmlformats.org/officeDocument/2006/relationships/image" Target="/ppt/media/image50.jpeg" Id="R6249694a82d340a5" /><Relationship Type="http://schemas.openxmlformats.org/officeDocument/2006/relationships/image" Target="/ppt/media/image51.jpeg" Id="R728ec184fdd9408c" /><Relationship Type="http://schemas.openxmlformats.org/officeDocument/2006/relationships/notesSlide" Target="/ppt/notesSlides/notesSlide9.xml" Id="Rfb132066d72e4d7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c9ba7b02cc42bd" /><Relationship Type="http://schemas.openxmlformats.org/officeDocument/2006/relationships/notesSlide" Target="/ppt/notesSlides/notesSlide10.xml" Id="R1986f90bf2f34dc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C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b72af88c12498f"/>
          <a:srcRect xmlns:a="http://schemas.openxmlformats.org/drawingml/2006/main" l="0" t="2000" r="0" b="20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0" y="0"/>
            <a:ext cx="5334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9852B8-CF72-43E8-9097-A81531452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7524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744"/>
          </a:solidFill>
          <a:ln xmlns:a="http://schemas.openxmlformats.org/drawingml/2006/main" w="9525">
            <a:solidFill>
              <a:srgbClr val="1C2744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8F6AABB-907F-421F-9F0D-0000AF54A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571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B4C2"/>
                </a:solidFill>
              </a:defRPr>
            </a:pPr>
            <a:r>
              <a:rPr sz="1050" b="1">
                <a:solidFill>
                  <a:srgbClr val="EDB4C2"/>
                </a:solidFill>
              </a:rPr>
              <a:t>SHANGHAI SILK / CROWN &amp; IVY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B5E6F3-5E97-40A9-9F92-A98ED3899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6096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0">
                <a:solidFill>
                  <a:srgbClr val="FFFFFF"/>
                </a:solidFill>
              </a:defRPr>
            </a:pPr>
            <a:r>
              <a:rPr sz="4800" b="0">
                <a:solidFill>
                  <a:srgbClr val="FFFFFF"/>
                </a:solidFill>
              </a:rPr>
              <a:t>Color with a</a:t>
            </a:r>
          </a:p>
          <a:p xmlns:a="http://schemas.openxmlformats.org/drawingml/2006/main">
            <a:pPr algn="l">
              <a:defRPr sz="4800" b="0">
                <a:solidFill>
                  <a:srgbClr val="FFFFFF"/>
                </a:solidFill>
              </a:defRPr>
            </a:pPr>
            <a:r>
              <a:rPr sz="4800" b="0">
                <a:solidFill>
                  <a:srgbClr val="FFFFFF"/>
                </a:solidFill>
              </a:rPr>
              <a:t>point of view.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C7D54D-72D0-44C9-913E-8C0B2A724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0"/>
            <a:ext cx="5334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FFFFF"/>
                </a:solidFill>
              </a:defRPr>
            </a:pPr>
            <a:r>
              <a:rPr sz="2100" b="1">
                <a:solidFill>
                  <a:srgbClr val="FFFFFF"/>
                </a:solidFill>
              </a:rPr>
              <a:t>Fall Transition 2026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19D860-9BBA-4200-8E04-A6BA91620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95750"/>
            <a:ext cx="54292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5E7E2"/>
                </a:solidFill>
              </a:defRPr>
            </a:pPr>
            <a:r>
              <a:rPr sz="1500" b="0">
                <a:solidFill>
                  <a:srgbClr val="E5E7E2"/>
                </a:solidFill>
              </a:rPr>
              <a:t>50 new woven styles across five confirmed directions for BELK online and department stores.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5518E3-483C-4C6F-B51D-45A27B5A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C9943E"/>
                </a:solidFill>
              </a:defRPr>
            </a:pPr>
            <a:r>
              <a:rPr sz="975" b="1">
                <a:solidFill>
                  <a:srgbClr val="C9943E"/>
                </a:solidFill>
              </a:rPr>
              <a:t>ENGLISH CLIENT PROPOSAL / V2</a:t>
            </a:r>
          </a:p>
        </p:txBody>
      </p:sp>
    </p:spTree>
    <p:extLst>
      <p:ext uri="{BB962C8B-B14F-4D97-AF65-F5344CB8AC3E}">
        <p14:creationId xmlns:p14="http://schemas.microsoft.com/office/powerpoint/2010/main" val="1073623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832A75F-48CA-4282-B626-D0CBDE595A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2758"/>
                </a:solidFill>
              </a:defRPr>
            </a:pPr>
            <a:r>
              <a:rPr sz="1050" b="1">
                <a:solidFill>
                  <a:srgbClr val="B92758"/>
                </a:solidFill>
              </a:rPr>
              <a:t>01 / CUSTOMER BRIEF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E1719A-EC1F-4CDD-ABD8-7F6FE9F4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236"/>
                </a:solidFill>
              </a:defRPr>
            </a:pPr>
            <a:r>
              <a:rPr sz="2850" b="0">
                <a:solidFill>
                  <a:srgbClr val="172236"/>
                </a:solidFill>
              </a:rPr>
              <a:t>Everyday polish, built for Fall Transition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0F6909-21C4-497E-AFC4-4C4082F385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CC6313-38D8-444F-AFD8-74A24AB33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MARKET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2A13E-DFE7-46C8-B299-DAAF5CDE2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811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6"/>
                </a:solidFill>
              </a:defRPr>
            </a:pPr>
            <a:r>
              <a:rPr sz="1425" b="0">
                <a:solidFill>
                  <a:srgbClr val="172236"/>
                </a:solidFill>
              </a:rPr>
              <a:t>United States / BELK online + department stores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441773-2092-402F-98FD-8D8D17A51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5240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CONSUMER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D46C96-61CF-43C9-8C47-3A88BB214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17811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6"/>
                </a:solidFill>
              </a:defRPr>
            </a:pPr>
            <a:r>
              <a:rPr sz="1425" b="0">
                <a:solidFill>
                  <a:srgbClr val="172236"/>
                </a:solidFill>
              </a:rPr>
              <a:t>Women 35-50 / stable income / polished casual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392455-2E42-4BF7-A2E3-6D134AFAB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CATEGORIES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D7E19CF-6F33-4102-8DAD-41B8A90F7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8860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6"/>
                </a:solidFill>
              </a:defRPr>
            </a:pPr>
            <a:r>
              <a:rPr sz="1425" b="0">
                <a:solidFill>
                  <a:srgbClr val="172236"/>
                </a:solidFill>
              </a:rPr>
              <a:t>18 tops / 20 dresses / 6 pants / 6 sets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C73D41D-2510-4DDA-84C6-E695D11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6289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MATERIAL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95CBA68-BD1D-4AD4-AA5E-F3760AEBA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8860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6"/>
                </a:solidFill>
              </a:defRPr>
            </a:pPr>
            <a:r>
              <a:rPr sz="1425" b="0">
                <a:solidFill>
                  <a:srgbClr val="172236"/>
                </a:solidFill>
              </a:rPr>
              <a:t>Textured wovens, dobby, slub, eyelet and drape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539EAD-804B-44F6-AB10-B1474C9F6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33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SIGNATURE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9E95B-672B-4BDC-BC2C-73789A014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909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6"/>
                </a:solidFill>
              </a:defRPr>
            </a:pPr>
            <a:r>
              <a:rPr sz="1425" b="0">
                <a:solidFill>
                  <a:srgbClr val="172236"/>
                </a:solidFill>
              </a:rPr>
              <a:t>Feminine, refined, comfortable and ruffle-aware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43BB3B-BC37-4C4D-994D-56C1131E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73380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87078"/>
                </a:solidFill>
              </a:defRPr>
            </a:pPr>
            <a:r>
              <a:rPr sz="975" b="1">
                <a:solidFill>
                  <a:srgbClr val="687078"/>
                </a:solidFill>
              </a:rPr>
              <a:t>BOUNDARY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70AA89-E571-4BE8-A925-7C07CDEE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990975"/>
            <a:ext cx="3619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236"/>
                </a:solidFill>
              </a:defRPr>
            </a:pPr>
            <a:r>
              <a:rPr sz="1425" b="0">
                <a:solidFill>
                  <a:srgbClr val="172236"/>
                </a:solidFill>
              </a:rPr>
              <a:t>Limited embroidery; practical construction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A4D6EA-0FD8-4772-8A61-56DBAB87F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50495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1E59"/>
          </a:solidFill>
          <a:ln xmlns:a="http://schemas.openxmlformats.org/drawingml/2006/main" w="9525">
            <a:solidFill>
              <a:srgbClr val="C81E59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095262-7625-453E-8FD2-C3CF4033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0764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Mosaic Pink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1BC3BA1-CAEA-401A-AE7B-93CD00412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150495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0BD"/>
          </a:solidFill>
          <a:ln xmlns:a="http://schemas.openxmlformats.org/drawingml/2006/main" w="9525">
            <a:solidFill>
              <a:srgbClr val="F2B0BD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B71F2CA-0582-424A-9FB6-0C6E7AF9E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0764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Meadow Pink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4DBD59-BAE1-4249-95DE-00BBDAD11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39077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53F"/>
          </a:solidFill>
          <a:ln xmlns:a="http://schemas.openxmlformats.org/drawingml/2006/main" w="9525">
            <a:solidFill>
              <a:srgbClr val="1D253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FA5E886-47D2-4306-B62E-A0E8405F6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622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Harbor Navy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9A85DE-91E0-4780-A58F-DA640C549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39077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A7555"/>
          </a:solidFill>
          <a:ln xmlns:a="http://schemas.openxmlformats.org/drawingml/2006/main" w="9525">
            <a:solidFill>
              <a:srgbClr val="9A755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E7B00B-F1C5-4DAB-9772-06E4B0239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96227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Finley Tan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BA108C-5D35-4802-9804-E76DC9286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27660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B6D8"/>
          </a:solidFill>
          <a:ln xmlns:a="http://schemas.openxmlformats.org/drawingml/2006/main" w="9525">
            <a:solidFill>
              <a:srgbClr val="9CB6D8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0F6566E-0263-4C5B-9C1A-DDE604173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481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Wonka Peri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DC265F0-FFC0-4EF1-9031-6FF2398D3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27660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448"/>
          </a:solidFill>
          <a:ln xmlns:a="http://schemas.openxmlformats.org/drawingml/2006/main" w="9525">
            <a:solidFill>
              <a:srgbClr val="15544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63C25B3-A69E-41CF-8F02-E05DD031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384810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Hunt Green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1AC5489-086A-4CB8-AD3A-6F7EA5C77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6242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4232E"/>
          </a:solidFill>
          <a:ln xmlns:a="http://schemas.openxmlformats.org/drawingml/2006/main" w="9525">
            <a:solidFill>
              <a:srgbClr val="74232E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52860C-B9DB-45AA-A322-AF877C0B3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7339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Ripe Olive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5774655-DFC3-4BE4-99E4-92D0F2A5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16242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9A5"/>
          </a:solidFill>
          <a:ln xmlns:a="http://schemas.openxmlformats.org/drawingml/2006/main" w="9525">
            <a:solidFill>
              <a:srgbClr val="4E99A5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E7A7260-AECF-4812-805A-F78ADF3F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4733925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Enamel Turq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44EA848-44EB-48E5-8290-EE96B1BBA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04825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EAB9E"/>
          </a:solidFill>
          <a:ln xmlns:a="http://schemas.openxmlformats.org/drawingml/2006/main" w="9525">
            <a:solidFill>
              <a:srgbClr val="8EAB9E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7860817-184C-4C28-B1E7-A01E560A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6197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Mayan Jade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3EDD5CE-E890-402D-B35C-F4C2D1528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04825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73F"/>
          </a:solidFill>
          <a:ln xmlns:a="http://schemas.openxmlformats.org/drawingml/2006/main" w="9525">
            <a:solidFill>
              <a:srgbClr val="C9973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1790BA54-EE69-4A48-8B7F-41AE5A1D9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5619750"/>
            <a:ext cx="1066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900" b="1">
                <a:solidFill>
                  <a:srgbClr val="172236"/>
                </a:solidFill>
              </a:defRPr>
            </a:pPr>
            <a:r>
              <a:rPr sz="900" b="1">
                <a:solidFill>
                  <a:srgbClr val="172236"/>
                </a:solidFill>
              </a:rPr>
              <a:t>Squash</a:t>
            </a:r>
          </a:p>
        </p:txBody>
      </p:sp>
    </p:spTree>
    <p:extLst>
      <p:ext uri="{BB962C8B-B14F-4D97-AF65-F5344CB8AC3E}">
        <p14:creationId xmlns:p14="http://schemas.microsoft.com/office/powerpoint/2010/main" val="35958795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BF14969-8376-4CCD-AAFE-FF1575412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2758"/>
                </a:solidFill>
              </a:defRPr>
            </a:pPr>
            <a:r>
              <a:rPr sz="1050" b="1">
                <a:solidFill>
                  <a:srgbClr val="B92758"/>
                </a:solidFill>
              </a:rPr>
              <a:t>02 / MARKET EVIDENCE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C90266-5EA5-4A4B-8CBB-D40467E3E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236"/>
                </a:solidFill>
              </a:defRPr>
            </a:pPr>
            <a:r>
              <a:rPr sz="2850" b="0">
                <a:solidFill>
                  <a:srgbClr val="172236"/>
                </a:solidFill>
              </a:rPr>
              <a:t>Directional signals support the edit, not a sales forecast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C81603-90DC-472D-854B-CC4D7F5CE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71EAE1-9048-4CEF-A0CE-967183A0C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097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92758"/>
                </a:solidFill>
              </a:defRPr>
            </a:pPr>
            <a:r>
              <a:rPr sz="3150" b="0">
                <a:solidFill>
                  <a:srgbClr val="B92758"/>
                </a:solidFill>
              </a:rPr>
              <a:t>60.5k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7831CA-E32A-472E-BA52-A4F4DF52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0002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236"/>
                </a:solidFill>
              </a:defRPr>
            </a:pPr>
            <a:r>
              <a:rPr sz="1575" b="1">
                <a:solidFill>
                  <a:srgbClr val="172236"/>
                </a:solidFill>
              </a:rPr>
              <a:t>matching set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D587DF7-9CA5-4BB9-8174-D5DAE2539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352675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US keyword-volume field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5AE9BB-63D3-4EF8-A3AD-5942AD54D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14097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92758"/>
                </a:solidFill>
              </a:defRPr>
            </a:pPr>
            <a:r>
              <a:rPr sz="3150" b="0">
                <a:solidFill>
                  <a:srgbClr val="B92758"/>
                </a:solidFill>
              </a:rPr>
              <a:t>49.5k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BF993F-2FAF-49D5-BEB3-6E064A1F2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0002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236"/>
                </a:solidFill>
              </a:defRPr>
            </a:pPr>
            <a:r>
              <a:rPr sz="1575" b="1">
                <a:solidFill>
                  <a:srgbClr val="172236"/>
                </a:solidFill>
              </a:rPr>
              <a:t>floral dress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03CBF7-D1CE-4319-8D8D-7F9B3F217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52675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US keyword-volume 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350CC8C-B0FC-44E1-9EED-6B3FE8BD2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4097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92758"/>
                </a:solidFill>
              </a:defRPr>
            </a:pPr>
            <a:r>
              <a:rPr sz="3150" b="0">
                <a:solidFill>
                  <a:srgbClr val="B92758"/>
                </a:solidFill>
              </a:rPr>
              <a:t>40.5k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755315-F0CE-45CC-A4FC-5BA12926B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0002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236"/>
                </a:solidFill>
              </a:defRPr>
            </a:pPr>
            <a:r>
              <a:rPr sz="1575" b="1">
                <a:solidFill>
                  <a:srgbClr val="172236"/>
                </a:solidFill>
              </a:rPr>
              <a:t>shirt dress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976F4D1-85F7-4F57-8E5A-88B092B13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52675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US keyword-volume field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9A13F5-20B7-400B-9923-7AE86A17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409700"/>
            <a:ext cx="25241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B92758"/>
                </a:solidFill>
              </a:defRPr>
            </a:pPr>
            <a:r>
              <a:rPr sz="3150" b="0">
                <a:solidFill>
                  <a:srgbClr val="B92758"/>
                </a:solidFill>
              </a:rPr>
              <a:t>$69-$109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99A25-5FA2-4506-97A8-EA24AC3C4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000250"/>
            <a:ext cx="25241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72236"/>
                </a:solidFill>
              </a:defRPr>
            </a:pPr>
            <a:r>
              <a:rPr sz="1575" b="1">
                <a:solidFill>
                  <a:srgbClr val="172236"/>
                </a:solidFill>
              </a:rPr>
              <a:t>observed blouse range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688712-AB12-4A1D-9BDB-A12BEDD5B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2352675"/>
            <a:ext cx="2524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Dillard's public pages</a:t>
            </a:r>
          </a:p>
        </p:txBody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87cbb2b99e426c"/>
          <a:srcRect xmlns:a="http://schemas.openxmlformats.org/drawingml/2006/main" l="20810" t="0" r="208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3048000"/>
            <a:ext cx="2524125" cy="2428875"/>
          </a:xfrm>
          <a:prstGeom xmlns:a="http://schemas.openxmlformats.org/drawingml/2006/main" prst="rect">
            <a:avLst/>
          </a:prstGeom>
        </p:spPr>
      </p:pic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b4cfa1ee4c54067"/>
          <a:srcRect xmlns:a="http://schemas.openxmlformats.org/drawingml/2006/main" l="20746" t="0" r="2074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90900" y="3048000"/>
            <a:ext cx="2524125" cy="2428875"/>
          </a:xfrm>
          <a:prstGeom xmlns:a="http://schemas.openxmlformats.org/drawingml/2006/main" prst="rect">
            <a:avLst/>
          </a:prstGeom>
        </p:spPr>
      </p:pic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adb76152dc4b94"/>
          <a:srcRect xmlns:a="http://schemas.openxmlformats.org/drawingml/2006/main" l="20897" t="0" r="20897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3048000"/>
            <a:ext cx="2524125" cy="2428875"/>
          </a:xfrm>
          <a:prstGeom xmlns:a="http://schemas.openxmlformats.org/drawingml/2006/main" prst="rect">
            <a:avLst/>
          </a:prstGeom>
        </p:spPr>
      </p:pic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6bc607cc9ef4429"/>
          <a:srcRect xmlns:a="http://schemas.openxmlformats.org/drawingml/2006/main" l="20834" t="0" r="2083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91600" y="3048000"/>
            <a:ext cx="2524125" cy="2428875"/>
          </a:xfrm>
          <a:prstGeom xmlns:a="http://schemas.openxmlformats.org/drawingml/2006/main" prst="rect">
            <a:avLst/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84536DD-8718-439D-A64A-ECD6C7370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810250"/>
            <a:ext cx="10858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Customer trend images are requirement inputs. Retail, social and search observations remain separate evidence types; no platform metrics are merged.</a:t>
            </a:r>
          </a:p>
        </p:txBody>
      </p:sp>
    </p:spTree>
    <p:extLst>
      <p:ext uri="{BB962C8B-B14F-4D97-AF65-F5344CB8AC3E}">
        <p14:creationId xmlns:p14="http://schemas.microsoft.com/office/powerpoint/2010/main" val="15209631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C18976-D6FF-4BD3-8901-18EB27482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2758"/>
                </a:solidFill>
              </a:defRPr>
            </a:pPr>
            <a:r>
              <a:rPr sz="1050" b="1">
                <a:solidFill>
                  <a:srgbClr val="B92758"/>
                </a:solidFill>
              </a:rPr>
              <a:t>03 / CONFIRMED DIRECTION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069468B-BE2D-4A5E-8F23-FE83C2C53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236"/>
                </a:solidFill>
              </a:defRPr>
            </a:pPr>
            <a:r>
              <a:rPr sz="2850" b="0">
                <a:solidFill>
                  <a:srgbClr val="172236"/>
                </a:solidFill>
              </a:rPr>
              <a:t>Five stories balance recognition and design breadth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F7EFD33-DCF2-4483-957C-5104F0C4F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6D879C-9705-4802-BC71-A0FB76C3B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20574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83C40F7-F246-4C1D-B1E0-1A15E30F6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48590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2758"/>
          </a:solidFill>
          <a:ln xmlns:a="http://schemas.openxmlformats.org/drawingml/2006/main" w="9525">
            <a:solidFill>
              <a:srgbClr val="B92758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5A0622-2D3B-4A05-8747-14E00A0E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C9C4BC"/>
                </a:solidFill>
              </a:defRPr>
            </a:pPr>
            <a:r>
              <a:rPr sz="3300" b="0">
                <a:solidFill>
                  <a:srgbClr val="C9C4BC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6DE7B2-DE69-4AA6-A592-1D7A0C56B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527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236"/>
                </a:solidFill>
              </a:defRPr>
            </a:pPr>
            <a:r>
              <a:rPr sz="1950" b="0">
                <a:solidFill>
                  <a:srgbClr val="172236"/>
                </a:solidFill>
              </a:rPr>
              <a:t>Refined Ruffle Utility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BD9B80-83E9-4B46-B8EB-5FC0B7D40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Relaxed blouses with split necks, cascading ruffles, flutter and bishop sleeves.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0E91995-2D8B-4AEC-9D89-06DACCAB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85900"/>
            <a:ext cx="20574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1B777C-C32F-4A6C-8C6A-724C4F7AB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148590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E9CAB"/>
          </a:solidFill>
          <a:ln xmlns:a="http://schemas.openxmlformats.org/drawingml/2006/main" w="9525">
            <a:solidFill>
              <a:srgbClr val="4E9CA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EA7DE9-11C2-4682-943F-12214B2BF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8097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C9C4BC"/>
                </a:solidFill>
              </a:defRPr>
            </a:pPr>
            <a:r>
              <a:rPr sz="3300" b="0">
                <a:solidFill>
                  <a:srgbClr val="C9C4BC"/>
                </a:solidFill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E2AEE7-47B0-4330-B164-9D13E2058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5527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236"/>
                </a:solidFill>
              </a:defRPr>
            </a:pPr>
            <a:r>
              <a:rPr sz="1950" b="0">
                <a:solidFill>
                  <a:srgbClr val="172236"/>
                </a:solidFill>
              </a:rPr>
              <a:t>Full Bloom Day Dresses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678D8-54A5-4D5D-B249-AD7E60C62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5242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Large florals, frame prints, shirt dresses, fit-and-flare and controlled tiers.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AADFEE-804B-45A9-81AA-531DD534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85900"/>
            <a:ext cx="20574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EA8F68-5449-46DE-94DF-E3FD89AD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48590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943E"/>
          </a:solidFill>
          <a:ln xmlns:a="http://schemas.openxmlformats.org/drawingml/2006/main" w="9525">
            <a:solidFill>
              <a:srgbClr val="C9943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9CC3FE-D88F-4364-97AB-F3E881B7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18097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C9C4BC"/>
                </a:solidFill>
              </a:defRPr>
            </a:pPr>
            <a:r>
              <a:rPr sz="3300" b="0">
                <a:solidFill>
                  <a:srgbClr val="C9C4BC"/>
                </a:solidFill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F1FF1C7-940F-4F01-8020-395084E29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5527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236"/>
                </a:solidFill>
              </a:defRPr>
            </a:pPr>
            <a:r>
              <a:rPr sz="1950" b="0">
                <a:solidFill>
                  <a:srgbClr val="172236"/>
                </a:solidFill>
              </a:rPr>
              <a:t>Crafted Texture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9AD245-1DA0-4755-99DF-1CD794235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35242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Dobby, eyelet, slub and localized embroidery at garment structure.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714201-729A-4360-8B71-A47A7F58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85900"/>
            <a:ext cx="20574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70C797F-AE51-4BC2-85B2-A371999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48590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5849"/>
          </a:solidFill>
          <a:ln xmlns:a="http://schemas.openxmlformats.org/drawingml/2006/main" w="9525">
            <a:solidFill>
              <a:srgbClr val="125849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67A48-BEF4-4885-9878-DF9CA4C7C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18097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C9C4BC"/>
                </a:solidFill>
              </a:defRPr>
            </a:pPr>
            <a:r>
              <a:rPr sz="3300" b="0">
                <a:solidFill>
                  <a:srgbClr val="C9C4BC"/>
                </a:solidFill>
              </a:rPr>
              <a:t>04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8E8CDD-DC57-4E96-919A-EE140300DF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25527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236"/>
                </a:solidFill>
              </a:defRPr>
            </a:pPr>
            <a:r>
              <a:rPr sz="1950" b="0">
                <a:solidFill>
                  <a:srgbClr val="172236"/>
                </a:solidFill>
              </a:rPr>
              <a:t>Placed Story Prints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DAEEDF-16DC-4F64-8072-30ECEE39E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05700" y="35242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Center fronts, neckline frames, sleeve borders, hem borders and side bouquets.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F505CF-2991-4FF0-85E5-C8CFD765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485900"/>
            <a:ext cx="2057400" cy="432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D7D0C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D82B72C-4795-4F37-9CC7-1A2EA52AA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1485900"/>
            <a:ext cx="2057400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2744"/>
          </a:solidFill>
          <a:ln xmlns:a="http://schemas.openxmlformats.org/drawingml/2006/main" w="9525">
            <a:solidFill>
              <a:srgbClr val="1C274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537605-E40F-49DC-8493-7A593E99E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1809750"/>
            <a:ext cx="666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300" b="0">
                <a:solidFill>
                  <a:srgbClr val="C9C4BC"/>
                </a:solidFill>
              </a:defRPr>
            </a:pPr>
            <a:r>
              <a:rPr sz="3300" b="0">
                <a:solidFill>
                  <a:srgbClr val="C9C4BC"/>
                </a:solidFill>
              </a:rPr>
              <a:t>05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6217A27-CA77-4066-B4CD-DECC32DAB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55270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950" b="0">
                <a:solidFill>
                  <a:srgbClr val="172236"/>
                </a:solidFill>
              </a:defRPr>
            </a:pPr>
            <a:r>
              <a:rPr sz="1950" b="0">
                <a:solidFill>
                  <a:srgbClr val="172236"/>
                </a:solidFill>
              </a:rPr>
              <a:t>Polished Coordinates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7EB9BB-1323-434C-9F05-18A2F0A526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3524250"/>
            <a:ext cx="1714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87078"/>
                </a:solidFill>
              </a:defRPr>
            </a:pPr>
            <a:r>
              <a:rPr sz="1275" b="0">
                <a:solidFill>
                  <a:srgbClr val="687078"/>
                </a:solidFill>
              </a:rPr>
              <a:t>Woven sets and pants with vertical borders, pocket placements and mixability.</a:t>
            </a:r>
          </a:p>
        </p:txBody>
      </p:sp>
    </p:spTree>
    <p:extLst>
      <p:ext uri="{BB962C8B-B14F-4D97-AF65-F5344CB8AC3E}">
        <p14:creationId xmlns:p14="http://schemas.microsoft.com/office/powerpoint/2010/main" val="192240559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C3E4F44-AF3A-4A17-8D95-24433462A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2758"/>
                </a:solidFill>
              </a:defRPr>
            </a:pPr>
            <a:r>
              <a:rPr sz="1050" b="1">
                <a:solidFill>
                  <a:srgbClr val="B92758"/>
                </a:solidFill>
              </a:rPr>
              <a:t>04 / FINAL ASSORTMENT / BATCH 01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52D5EF-C1AD-481A-A533-426266639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236"/>
                </a:solidFill>
              </a:defRPr>
            </a:pPr>
            <a:r>
              <a:rPr sz="2850" b="0">
                <a:solidFill>
                  <a:srgbClr val="172236"/>
                </a:solidFill>
              </a:rPr>
              <a:t>CI26-001 - CI26-010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7AC2C3-A08B-4DDC-99F5-DC6AF205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05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308843ec6854b3b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6C99337-87E0-4EAB-B0D9-C6EC9F840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8FB787-FF3A-400C-A41B-3BCCEC8BB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BF7588F-7AF0-4080-B799-BCA4AF73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91d2e3b1a7145ed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F1C907-3191-49B7-92A0-A0F1CD10E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74B905-08A2-4C6A-AA89-89F95BF1C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6279D70-85E3-4800-8C44-80540F0FA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036e68f2734330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87C5D8-5A2D-4D88-9490-67AAAD54BC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B5297E-816B-4251-9ACF-030C2B51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52F9BD-8329-4C20-9338-2F3277C4B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59e0f8ad54598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50C87C5-C91A-4964-A7A8-48209F753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8F103C-7222-44E3-8049-0454BE483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D671A65-4350-4F98-89BB-626CD37F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f93379fb0a4105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D13C5-706A-4493-9888-C74EBDC8A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3C06B4-938A-43FB-A4A1-80933700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2D69D26-38A3-4DDD-85A7-361B36ADC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1771a7619a410c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3DA58D-E0C3-47D2-AC09-64198FA27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BB1D4E4-258A-49C9-ADDA-81D3BC1AF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650B9F5-BB08-4ACD-99E2-66A75956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a02a60aeba4cad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951115C-E630-4E11-A29C-177665D4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F53753C-008E-4633-955E-48C3C8C7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FA4A76-9D99-4630-9B04-E47A5269E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71b2266eed4b10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EEFE89F-57AB-450B-9361-DB6E1D981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A9A325-4EA3-49A0-84B5-AF8BD258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0E8CD78-C833-4228-B845-B90BAF7B5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0e97ca76fe44a5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6699048-2127-4E01-B93B-C12022AC8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CI26-009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00DCD32-F19D-4FA5-8F08-061174E8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A0AAF14-1584-4421-B8A8-09535245C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947811988864a51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F2E71E67-18CD-475A-A665-26453EBCD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489CC79-49C9-4D7A-8BAC-A0CDF438A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0678127-368A-41B7-B778-165662D6A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</p:spTree>
    <p:extLst>
      <p:ext uri="{BB962C8B-B14F-4D97-AF65-F5344CB8AC3E}">
        <p14:creationId xmlns:p14="http://schemas.microsoft.com/office/powerpoint/2010/main" val="145182549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9764A2-A35A-487B-8FF2-7C9E4B3C6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2758"/>
                </a:solidFill>
              </a:defRPr>
            </a:pPr>
            <a:r>
              <a:rPr sz="1050" b="1">
                <a:solidFill>
                  <a:srgbClr val="B92758"/>
                </a:solidFill>
              </a:rPr>
              <a:t>04 / FINAL ASSORTMENT / BATCH 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851C39-185D-47A8-9EAA-923103F4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236"/>
                </a:solidFill>
              </a:defRPr>
            </a:pPr>
            <a:r>
              <a:rPr sz="2850" b="0">
                <a:solidFill>
                  <a:srgbClr val="172236"/>
                </a:solidFill>
              </a:rPr>
              <a:t>CI26-011 - CI26-020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907C194-D577-422A-AB13-F584D0FBA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06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3cdbc0d2a4ec2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C28B97F-3838-4014-800C-712D3D6A2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FD2BD6D-C469-44F7-B959-A19D6F317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0FE59-F67E-4D0F-9582-3B7BE831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1a4142712c4f7d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C8070D-F5DF-429A-87B3-C48446661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1C870-2851-4D04-AFD4-6B2EE5624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FE5345-721A-403C-B18B-9BAE3926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Refined Ruffle Utility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f9d067e7dd34dbf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78F791-1D40-43E5-BAE2-DCEAFEE71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5D5AB9-1859-4B5F-BB6B-98FA6E3BE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C9A0FA-3832-4B30-B8CA-08B353023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c3bde483e574754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22AC56-E6E4-442D-925E-3BB837C0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0E7728B-4CF3-4A3D-B0EB-DE49F1EFD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2C0FE-B111-462E-A97E-7A16A18D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d9ff5187a24c86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95B6BD-89A8-48D8-8ADA-C53FA2392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B7045E-2BF6-4749-8E2F-1E7B128C2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6A543C-F217-4DA9-A2E8-31C582D5A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65a80045bf4d84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AA27D54-C212-4767-A03C-901B46D89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60AC795-8CEA-431A-8B8E-BDB829752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6D6B8A-A8EA-431E-B97B-E35B1AFD2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1f8375185a4a51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7BD65F-F4CE-46FC-9F3D-8C9E1D6C1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BA4736D-088F-46B6-BDC5-910B595D2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48F516D-8D15-446B-B256-68CC431EC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e0705d7a6243dd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40A10D7-652F-4D62-981E-9C81294A1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9E32027-8072-4C5F-AFAC-E21922958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5572C75-EB08-48B3-AB1E-A42FF6818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9651396d9a4560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64974BB-A117-4842-83A9-65305B924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CI26-019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CC395A5-AEC1-4831-ABAB-7C9E8535B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853F2BD-C70B-4B46-91A8-35ACBA58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b0f64f3e1940ea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63D5567-BC6E-469B-BDBF-F0A76DB31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AF5B7AD-853B-41D7-8D57-DE789CA7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9F2187E-CF96-4F28-8042-D227B54A6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</p:spTree>
    <p:extLst>
      <p:ext uri="{BB962C8B-B14F-4D97-AF65-F5344CB8AC3E}">
        <p14:creationId xmlns:p14="http://schemas.microsoft.com/office/powerpoint/2010/main" val="47052836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0883B45-0C1F-45ED-B29F-DDCDD0880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2758"/>
                </a:solidFill>
              </a:defRPr>
            </a:pPr>
            <a:r>
              <a:rPr sz="1050" b="1">
                <a:solidFill>
                  <a:srgbClr val="B92758"/>
                </a:solidFill>
              </a:rPr>
              <a:t>04 / FINAL ASSORTMENT / BATCH 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1CCFC8-1A70-4F1E-8127-053FB6B21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236"/>
                </a:solidFill>
              </a:defRPr>
            </a:pPr>
            <a:r>
              <a:rPr sz="2850" b="0">
                <a:solidFill>
                  <a:srgbClr val="172236"/>
                </a:solidFill>
              </a:rPr>
              <a:t>CI26-021 - CI26-030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591FEA-175F-44D7-865E-267DCF54E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07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955141892c406f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E64751F-AA9A-43EF-9C88-088AEA15A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16537A4-2751-44CD-916E-3B7F67E2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A13E07-2BBA-469B-B02A-5BF234536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8a83bee4ff482d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52449F-587B-4401-AC36-D8D668368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ED1DCF-D042-4DAF-9C62-97C36237E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99BDD6-2465-42D7-9539-DE5564BD9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4005f0ac694f89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F688951-C8DF-4A0B-A4BE-3F25FADE1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1914FD-5BA1-4103-9D9F-9CD6F877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CC629D4-7DFF-454D-92A5-7FF65709E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9026dacbe8436c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62F8DCD-3481-43EB-961E-662BCA543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9063A86-C8CD-4C41-B41F-4B2A0B8E8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59A536-28A3-4DE2-85D1-7E39136C6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46dd3985874b4e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E23FC02-C736-4727-B8AC-B98748414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61B49AC-5E3D-4814-B2DD-476731874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FA6BC-074A-435E-9A72-BDA54BA87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2036edb6b946e7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E261BA-9448-4FA4-BED9-D37EFFE26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2D0C488-76E8-4ECD-A328-5059A2B13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52B06AC-4F1B-48A3-A9A7-4C50DA6E5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Full Bloom Day Dresses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c7e33e87e3c4f44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AEC8A20-7DC9-4121-9F95-E97DE3AF0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A31B471-4503-4604-A5F0-206793F6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BA0485F-A2FA-44AB-8217-83E8C86B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8c4d92e454e61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A54A2AE-496C-44CA-B7C9-B88757703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820115A-54B6-416D-B899-210CADFE8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79E3621-22AB-45B5-BEDC-23E14B379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f5f50d9ab94410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571CC01-6F1C-47BE-AA37-2EE16BABB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CI26-029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FC0197-8A9A-450D-8967-09CA458CA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6B4379ED-D67E-432D-98CB-838D30E77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b00f8d2f5e148b5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45EC394-8086-436E-8A3C-700DEA63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3E18756-BA90-4839-9AFC-83F6F88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AEB2446-B327-4D91-BD4E-A9402A911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</p:spTree>
    <p:extLst>
      <p:ext uri="{BB962C8B-B14F-4D97-AF65-F5344CB8AC3E}">
        <p14:creationId xmlns:p14="http://schemas.microsoft.com/office/powerpoint/2010/main" val="60090389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C98B2A1-029E-4407-9AD6-D8F509B36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2758"/>
                </a:solidFill>
              </a:defRPr>
            </a:pPr>
            <a:r>
              <a:rPr sz="1050" b="1">
                <a:solidFill>
                  <a:srgbClr val="B92758"/>
                </a:solidFill>
              </a:rPr>
              <a:t>04 / FINAL ASSORTMENT / BATCH 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B7DC7B-FA36-4AAC-A77A-D99B28735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236"/>
                </a:solidFill>
              </a:defRPr>
            </a:pPr>
            <a:r>
              <a:rPr sz="2850" b="0">
                <a:solidFill>
                  <a:srgbClr val="172236"/>
                </a:solidFill>
              </a:rPr>
              <a:t>CI26-031 - CI26-040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8EAFAFB-F572-4C71-B650-E034DD62F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08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623c8e915854f95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E53E67-1CE6-4F4F-9CBF-D48FAB20F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7DA82B-1E37-4A73-9BA1-11A795A45F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3B6592E-F470-4487-A18D-EC1CB80E0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b5430d506e47bc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82DE353-479A-4BA2-B086-7BBF8644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3237D9-94D5-4CC3-91D2-668565B42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Top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EAA797-A6A8-426A-8F3E-4888169DC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219296c2046ff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426136-0779-4058-8E2B-A5D268DB54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9A3B61-6DA2-4885-B27E-12184729B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80435D-D388-466C-9B6E-69FF7C58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0132ed2d684532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1509102-BDA1-419E-9C19-EDFB6B11D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64674B-1524-430E-B4A2-281CC16E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1500D-2051-4349-870A-0D8873DD8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94197e6dde84279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1220B7-4003-4BD8-9340-BF1C3A8A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A9C381A-7B32-4CFE-ACF9-6B2CE4174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E451BF4-1C02-49F2-AFBB-F072FE695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3c8da2d05bc4cce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ED3F47-1AC1-4194-BCED-E1004F15B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AA1BA7-EAB5-4882-88C4-041E6A627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937B68-D4C1-4EDD-9B8F-D4804C61D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Crafted Texture, Lightly Embroidered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812d13ba14f40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3DFC3D0-B5DE-41BA-B02F-5EA5C77C7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22D2A17-DBD5-4E37-86EA-A58BA8DF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B3462A-3D0F-4B4E-9E3B-EDB282C4B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Placed Story Prints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1f6f9ebdf044b4e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CA54C5E-A366-441C-A1FE-B9D0B52B4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5F9E15D-14AD-43EA-89F8-5EBEAA01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BC0E356-371B-4E10-BF17-017F08C7D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Placed Story Prints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9cf4441588b44ba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8A6BF1D-12DD-402C-9E97-3DEF84998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CI26-039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5671766-90C1-4E9C-97C4-605659235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1391639-9915-4054-A13A-7480DF6EE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Placed Story Prints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b07bffc466a4099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7B71065-34A2-4214-88D6-107DBE568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37FECD2-1022-4799-BFBC-9C71685B9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Dress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9FFF78-4FB9-48DF-B423-8E679E7A1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Placed Story Prints</a:t>
            </a:r>
          </a:p>
        </p:txBody>
      </p:sp>
    </p:spTree>
    <p:extLst>
      <p:ext uri="{BB962C8B-B14F-4D97-AF65-F5344CB8AC3E}">
        <p14:creationId xmlns:p14="http://schemas.microsoft.com/office/powerpoint/2010/main" val="154856621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4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2DF920E5-92A0-499A-8D41-CDA22524B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1950"/>
            <a:ext cx="7429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2758"/>
                </a:solidFill>
              </a:defRPr>
            </a:pPr>
            <a:r>
              <a:rPr sz="1050" b="1">
                <a:solidFill>
                  <a:srgbClr val="B92758"/>
                </a:solidFill>
              </a:rPr>
              <a:t>04 / FINAL ASSORTMENT / BATCH 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F2D7B91-B563-4952-B6E6-82400DF8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47700"/>
            <a:ext cx="10096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850" b="0">
                <a:solidFill>
                  <a:srgbClr val="172236"/>
                </a:solidFill>
              </a:defRPr>
            </a:pPr>
            <a:r>
              <a:rPr sz="2850" b="0">
                <a:solidFill>
                  <a:srgbClr val="172236"/>
                </a:solidFill>
              </a:rPr>
              <a:t>CI26-041 - CI26-050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18E36-3517-42CA-B0C8-FF5AABA2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00050"/>
            <a:ext cx="5334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00" b="1">
                <a:solidFill>
                  <a:srgbClr val="687078"/>
                </a:solidFill>
              </a:defRPr>
            </a:pPr>
            <a:r>
              <a:rPr sz="1200" b="1">
                <a:solidFill>
                  <a:srgbClr val="687078"/>
                </a:solidFill>
              </a:rPr>
              <a:t>09</a:t>
            </a:r>
          </a:p>
        </p:txBody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fc705a979943a6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4E8119-B5A8-48F4-9BEB-33E68671C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AA449F-FD7B-401A-B243-02852A718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Set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F0FE32-421A-46E7-A08C-4F1E02491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Placed Story Prints</a:t>
            </a:r>
          </a:p>
        </p:txBody>
      </p:sp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14ff92f1cd14197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0D295B-8E94-41BF-94C1-6335CC886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7F1116-774B-4D7D-B016-EA4CC7C9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Set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750909-2614-4FD5-81A6-54FC2DBE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Placed Story Prints</a:t>
            </a:r>
          </a:p>
        </p:txBody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af08537044758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6176B8-97B8-46BD-B904-50437AE82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B01DF7-A24B-44E6-8726-EDB501F0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Pant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8D34C59-9005-48B1-89DF-9E62A578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Placed Story Prints</a:t>
            </a:r>
          </a:p>
        </p:txBody>
      </p:sp>
      <p:pic>
        <p:nvPicPr>
          <p:cNvPr id="5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8960ab06dc14394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4EEA80-C44D-4C8C-A960-A57FF8761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E8BF0AB-1A55-4120-91AF-7A3EDF4C7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Pant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AD6F894-A267-49BB-8271-7F9AA248B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Placed Story Prints</a:t>
            </a:r>
          </a:p>
        </p:txBody>
      </p:sp>
      <p:pic>
        <p:nvPicPr>
          <p:cNvPr id="6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e1dd977914de8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14097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9845BB7-7AE7-4823-B6CD-4CA1C8AAF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4385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52EBABF-AB3B-4A21-B540-A63908ED1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34385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Set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C19048F-D843-4132-8056-3814DB645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36861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Polished Woven Coordinates</a:t>
            </a:r>
          </a:p>
        </p:txBody>
      </p:sp>
      <p:pic>
        <p:nvPicPr>
          <p:cNvPr id="6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1f5976c1cd3427b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905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835D7FC-FFBA-4C8D-8438-DFAC475C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154DF56-EB07-4D9A-8E8D-B222878F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Set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A47B8FC-CD4F-4744-87C9-8B2BD18A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Polished Woven Coordinates</a:t>
            </a:r>
          </a:p>
        </p:txBody>
      </p:sp>
      <p:pic>
        <p:nvPicPr>
          <p:cNvPr id="7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11e80e1114c91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384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47514-303F-4283-84F9-3CC4B2ABA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CB7752D-B705-458C-88ED-99A1FE89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Pant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049A74C-6312-47BA-9076-99CD37962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Polished Woven Coordinates</a:t>
            </a:r>
          </a:p>
        </p:txBody>
      </p:sp>
      <p:pic>
        <p:nvPicPr>
          <p:cNvPr id="7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e405ede339435f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63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87970CF-F0B7-44BE-BCF7-8D5A2B02A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CI26-048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9D30B4A-3BFD-4445-BA94-C2FFF8D88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Pant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3F087DE-D284-4A6E-882C-5E7CEF58C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Polished Woven Coordinates</a:t>
            </a:r>
          </a:p>
        </p:txBody>
      </p:sp>
      <p:pic>
        <p:nvPicPr>
          <p:cNvPr id="7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49694a82d340a5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3342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FA1DBBC-9C96-41DD-9F77-FCA47F335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CI26-049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82015E0-28A4-4328-AE8B-A7AFF68E7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Pant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720F3F5-A1DF-40A9-8AA7-2E207F517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Polished Woven Coordinates</a:t>
            </a:r>
          </a:p>
        </p:txBody>
      </p:sp>
      <p:pic>
        <p:nvPicPr>
          <p:cNvPr id="8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28ec184fdd9408c"/>
          <a:srcRect xmlns:a="http://schemas.openxmlformats.org/drawingml/2006/main" l="0" t="12667" r="0" b="126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582150" y="4038600"/>
            <a:ext cx="1952625" cy="1952625"/>
          </a:xfrm>
          <a:prstGeom xmlns:a="http://schemas.openxmlformats.org/drawingml/2006/main" prst="rect">
            <a:avLst/>
          </a:prstGeom>
        </p:spPr>
      </p:pic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3F38EAB-4DE5-447F-A2E6-B0E0D01F8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067425"/>
            <a:ext cx="895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B92758"/>
                </a:solidFill>
              </a:defRPr>
            </a:pPr>
            <a:r>
              <a:rPr sz="1125" b="1">
                <a:solidFill>
                  <a:srgbClr val="B92758"/>
                </a:solidFill>
              </a:rPr>
              <a:t>CI26-050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19C573FF-6F02-4528-B8E4-21F240C54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0" y="6067425"/>
            <a:ext cx="10572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687078"/>
                </a:solidFill>
              </a:defRPr>
            </a:pPr>
            <a:r>
              <a:rPr sz="1050" b="0">
                <a:solidFill>
                  <a:srgbClr val="687078"/>
                </a:solidFill>
              </a:rPr>
              <a:t>Pant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374C200-AE00-4AFD-845D-21FC90FF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315075"/>
            <a:ext cx="1952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236"/>
                </a:solidFill>
              </a:defRPr>
            </a:pPr>
            <a:r>
              <a:rPr sz="1200" b="0">
                <a:solidFill>
                  <a:srgbClr val="172236"/>
                </a:solidFill>
              </a:rPr>
              <a:t>Polished Woven Coordinates</a:t>
            </a:r>
          </a:p>
        </p:txBody>
      </p:sp>
    </p:spTree>
    <p:extLst>
      <p:ext uri="{BB962C8B-B14F-4D97-AF65-F5344CB8AC3E}">
        <p14:creationId xmlns:p14="http://schemas.microsoft.com/office/powerpoint/2010/main" val="202540442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C274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DA24665-3153-40C0-ACBE-08D060DA2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EDB4C2"/>
                </a:solidFill>
              </a:defRPr>
            </a:pPr>
            <a:r>
              <a:rPr sz="1050" b="1">
                <a:solidFill>
                  <a:srgbClr val="EDB4C2"/>
                </a:solidFill>
              </a:rPr>
              <a:t>05 / TRACEABILITY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E147DE-CED1-41DD-9771-E63873857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7630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FFFFFF"/>
                </a:solidFill>
              </a:defRPr>
            </a:pPr>
            <a:r>
              <a:rPr sz="3150" b="0">
                <a:solidFill>
                  <a:srgbClr val="FFFFFF"/>
                </a:solidFill>
              </a:rPr>
              <a:t>Sources, uses and gaps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33A181-A69A-4BC4-939A-0E49A2C21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Customer brief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8A90F3-3FAC-48F3-8B2A-4EDAA0C06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2890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FDA"/>
                </a:solidFill>
              </a:defRPr>
            </a:pPr>
            <a:r>
              <a:rPr sz="1350" b="0">
                <a:solidFill>
                  <a:srgbClr val="D9DFDA"/>
                </a:solidFill>
              </a:rPr>
              <a:t>Feishu requirement, six-page PDF and 18 sample-style references. Used for requirement and retrieval anchors, not market proof.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7AF9C3-060E-4BD8-9E4C-9D4D0E21A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095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Retail context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00AA96-582B-486C-9654-790C6F9E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62890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FDA"/>
                </a:solidFill>
              </a:defRPr>
            </a:pPr>
            <a:r>
              <a:rPr sz="1350" b="0">
                <a:solidFill>
                  <a:srgbClr val="D9DFDA"/>
                </a:solidFill>
              </a:rPr>
              <a:t>Crown &amp; Ivy/BELK, Dillard's, Ann Taylor and Talbots public pages. Used for silhouette recurrence and visible price context.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22F3DC-79A2-4BC1-B435-FBD9C54DA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0955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100" b="0">
                <a:solidFill>
                  <a:srgbClr val="FFFFFF"/>
                </a:solidFill>
              </a:defRPr>
            </a:pPr>
            <a:r>
              <a:rPr sz="2100" b="0">
                <a:solidFill>
                  <a:srgbClr val="FFFFFF"/>
                </a:solidFill>
              </a:rPr>
              <a:t>Search and social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3342ED-BB23-4ED2-8B70-4F1AAD1376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628900"/>
            <a:ext cx="3238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D9DFDA"/>
                </a:solidFill>
              </a:defRPr>
            </a:pPr>
            <a:r>
              <a:rPr sz="1350" b="0">
                <a:solidFill>
                  <a:srgbClr val="D9DFDA"/>
                </a:solidFill>
              </a:rPr>
              <a:t>US search fields plus filtered TikTok, Pinterest and Instagram samples. Metrics remain separate and directional.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F14074-7C16-4DB3-BADB-F5C9E3551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10858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6E2"/>
          </a:solidFill>
          <a:ln xmlns:a="http://schemas.openxmlformats.org/drawingml/2006/main" w="9525">
            <a:solidFill>
              <a:srgbClr val="C9943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97AFD-C12A-4306-A8C6-EBA8C792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91100"/>
            <a:ext cx="1809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C9943E"/>
                </a:solidFill>
              </a:defRPr>
            </a:pPr>
            <a:r>
              <a:rPr sz="1050" b="1">
                <a:solidFill>
                  <a:srgbClr val="C9943E"/>
                </a:solidFill>
              </a:rPr>
              <a:t>DATA GAPS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AB3FB7-D90B-45E0-B527-D269F5E9D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9590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9552D"/>
                </a:solidFill>
              </a:defRPr>
            </a:pPr>
            <a:r>
              <a:rPr sz="1275" b="0">
                <a:solidFill>
                  <a:srgbClr val="69552D"/>
                </a:solidFill>
              </a:rPr>
              <a:t>Current BELK product-level pricing, Tuckernuck product evidence and a callable fashion trend-vector source were not available in the bounded run. No missing field was filled with zero, estimation or simulation.</a:t>
            </a:r>
          </a:p>
        </p:txBody>
      </p:sp>
    </p:spTree>
    <p:extLst>
      <p:ext uri="{BB962C8B-B14F-4D97-AF65-F5344CB8AC3E}">
        <p14:creationId xmlns:p14="http://schemas.microsoft.com/office/powerpoint/2010/main" val="207953554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2026-08-10T07:05:25.8240000Z</dcterms:created>
  <dcterms:modified xsi:type="dcterms:W3CDTF">2026-08-10T07:05:25.8240000Z</dcterms:modified>
</coreProperties>
</file>