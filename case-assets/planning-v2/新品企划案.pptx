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004d79415a4bc2" /><Relationship Type="http://schemas.openxmlformats.org/officeDocument/2006/relationships/extended-properties" Target="/docProps/app.xml" Id="Re84cb332f9214c73" /><Relationship Type="http://schemas.openxmlformats.org/officeDocument/2006/relationships/officeDocument" Target="/ppt/presentation.xml" Id="R7d9d45e5d02d4b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7c8e408aa84f15"/>
  </p:sldMasterIdLst>
  <p:notesMasterIdLst>
    <p:notesMasterId xmlns:r="http://schemas.openxmlformats.org/officeDocument/2006/relationships" r:id="R192a48249b464832"/>
  </p:notesMasterIdLst>
  <p:sldIdLst>
    <p:sldId xmlns:r="http://schemas.openxmlformats.org/officeDocument/2006/relationships" id="256" r:id="R7d9598437974463f"/>
    <p:sldId xmlns:r="http://schemas.openxmlformats.org/officeDocument/2006/relationships" id="257" r:id="R47e7d3eb90a645c9"/>
    <p:sldId xmlns:r="http://schemas.openxmlformats.org/officeDocument/2006/relationships" id="258" r:id="R1b62d99206604fda"/>
    <p:sldId xmlns:r="http://schemas.openxmlformats.org/officeDocument/2006/relationships" id="259" r:id="R29a72c819c3241aa"/>
    <p:sldId xmlns:r="http://schemas.openxmlformats.org/officeDocument/2006/relationships" id="260" r:id="Rc421954c80bf48dd"/>
    <p:sldId xmlns:r="http://schemas.openxmlformats.org/officeDocument/2006/relationships" id="261" r:id="Re4da34a1db914223"/>
    <p:sldId xmlns:r="http://schemas.openxmlformats.org/officeDocument/2006/relationships" id="262" r:id="R328f1f9839174434"/>
    <p:sldId xmlns:r="http://schemas.openxmlformats.org/officeDocument/2006/relationships" id="263" r:id="Re74aa94cdb444516"/>
    <p:sldId xmlns:r="http://schemas.openxmlformats.org/officeDocument/2006/relationships" id="264" r:id="R498c8cdde021499f"/>
    <p:sldId xmlns:r="http://schemas.openxmlformats.org/officeDocument/2006/relationships" id="265" r:id="R6e540c49361c4e00"/>
    <p:sldId xmlns:r="http://schemas.openxmlformats.org/officeDocument/2006/relationships" id="266" r:id="Rafe39a0e50e349fa"/>
    <p:sldId xmlns:r="http://schemas.openxmlformats.org/officeDocument/2006/relationships" id="267" r:id="R7dac00744a8a4129"/>
    <p:sldId xmlns:r="http://schemas.openxmlformats.org/officeDocument/2006/relationships" id="268" r:id="R6ef003455ece4f23"/>
    <p:sldId xmlns:r="http://schemas.openxmlformats.org/officeDocument/2006/relationships" id="269" r:id="Re9d38d822c6f48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a9d1b3263d4ed2" /><Relationship Type="http://schemas.openxmlformats.org/officeDocument/2006/relationships/slideMaster" Target="/ppt/slideMasters/slideMaster1.xml" Id="R977c8e408aa84f15" /><Relationship Type="http://schemas.openxmlformats.org/officeDocument/2006/relationships/notesMaster" Target="/ppt/notesMasters/notesMaster1.xml" Id="R192a48249b464832" /><Relationship Type="http://schemas.openxmlformats.org/officeDocument/2006/relationships/presProps" Target="/ppt/presProps.xml" Id="R56bbb9d184234ec5" /><Relationship Type="http://schemas.openxmlformats.org/officeDocument/2006/relationships/tableStyles" Target="/ppt/tableStyles.xml" Id="Rf0505af6e7c04531" /><Relationship Type="http://schemas.openxmlformats.org/officeDocument/2006/relationships/slide" Target="/ppt/slides/slide1.xml" Id="R7d9598437974463f" /><Relationship Type="http://schemas.openxmlformats.org/officeDocument/2006/relationships/slide" Target="/ppt/slides/slide2.xml" Id="R47e7d3eb90a645c9" /><Relationship Type="http://schemas.openxmlformats.org/officeDocument/2006/relationships/slide" Target="/ppt/slides/slide3.xml" Id="R1b62d99206604fda" /><Relationship Type="http://schemas.openxmlformats.org/officeDocument/2006/relationships/slide" Target="/ppt/slides/slide4.xml" Id="R29a72c819c3241aa" /><Relationship Type="http://schemas.openxmlformats.org/officeDocument/2006/relationships/slide" Target="/ppt/slides/slide5.xml" Id="Rc421954c80bf48dd" /><Relationship Type="http://schemas.openxmlformats.org/officeDocument/2006/relationships/slide" Target="/ppt/slides/slide6.xml" Id="Re4da34a1db914223" /><Relationship Type="http://schemas.openxmlformats.org/officeDocument/2006/relationships/slide" Target="/ppt/slides/slide7.xml" Id="R328f1f9839174434" /><Relationship Type="http://schemas.openxmlformats.org/officeDocument/2006/relationships/slide" Target="/ppt/slides/slide8.xml" Id="Re74aa94cdb444516" /><Relationship Type="http://schemas.openxmlformats.org/officeDocument/2006/relationships/slide" Target="/ppt/slides/slide9.xml" Id="R498c8cdde021499f" /><Relationship Type="http://schemas.openxmlformats.org/officeDocument/2006/relationships/slide" Target="/ppt/slides/slide10.xml" Id="R6e540c49361c4e00" /><Relationship Type="http://schemas.openxmlformats.org/officeDocument/2006/relationships/slide" Target="/ppt/slides/slide11.xml" Id="Rafe39a0e50e349fa" /><Relationship Type="http://schemas.openxmlformats.org/officeDocument/2006/relationships/slide" Target="/ppt/slides/slide12.xml" Id="R7dac00744a8a4129" /><Relationship Type="http://schemas.openxmlformats.org/officeDocument/2006/relationships/slide" Target="/ppt/slides/slide13.xml" Id="R6ef003455ece4f23" /><Relationship Type="http://schemas.openxmlformats.org/officeDocument/2006/relationships/slide" Target="/ppt/slides/slide14.xml" Id="Re9d38d822c6f48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d0d54bc0fe4f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3fbc4ef6ec4cc9" /><Relationship Type="http://schemas.openxmlformats.org/officeDocument/2006/relationships/notesMaster" Target="/ppt/notesMasters/notesMaster1.xml" Id="R2dd861bee4d3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7be6db5d27407f" /><Relationship Type="http://schemas.openxmlformats.org/officeDocument/2006/relationships/notesMaster" Target="/ppt/notesMasters/notesMaster1.xml" Id="R9b4c41f12e314c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cd3af426b94360" /><Relationship Type="http://schemas.openxmlformats.org/officeDocument/2006/relationships/notesMaster" Target="/ppt/notesMasters/notesMaster1.xml" Id="Rd62c9b6c284d43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188b94520146b6" /><Relationship Type="http://schemas.openxmlformats.org/officeDocument/2006/relationships/notesMaster" Target="/ppt/notesMasters/notesMaster1.xml" Id="R1452303b0f964b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a863791ded4730" /><Relationship Type="http://schemas.openxmlformats.org/officeDocument/2006/relationships/notesMaster" Target="/ppt/notesMasters/notesMaster1.xml" Id="R4c72f19856d147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82bf50be654b0d" /><Relationship Type="http://schemas.openxmlformats.org/officeDocument/2006/relationships/notesMaster" Target="/ppt/notesMasters/notesMaster1.xml" Id="R55628e1032b443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e6f00132f74811" /><Relationship Type="http://schemas.openxmlformats.org/officeDocument/2006/relationships/notesMaster" Target="/ppt/notesMasters/notesMaster1.xml" Id="Rea0c4d26c06340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de9947a17d4642" /><Relationship Type="http://schemas.openxmlformats.org/officeDocument/2006/relationships/notesMaster" Target="/ppt/notesMasters/notesMaster1.xml" Id="R5c1fc5a47fb14b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e3f790782c426b" /><Relationship Type="http://schemas.openxmlformats.org/officeDocument/2006/relationships/notesMaster" Target="/ppt/notesMasters/notesMaster1.xml" Id="R0f4101f26d834c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8ada86fcaa4f98" /><Relationship Type="http://schemas.openxmlformats.org/officeDocument/2006/relationships/notesMaster" Target="/ppt/notesMasters/notesMaster1.xml" Id="R1888fc21fb6548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112f016ca14681" /><Relationship Type="http://schemas.openxmlformats.org/officeDocument/2006/relationships/notesMaster" Target="/ppt/notesMasters/notesMaster1.xml" Id="Re466b9b21bb340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dc02b885674d66" /><Relationship Type="http://schemas.openxmlformats.org/officeDocument/2006/relationships/notesMaster" Target="/ppt/notesMasters/notesMaster1.xml" Id="Rfe67d7fd4bca43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4942fde9c64db5" /><Relationship Type="http://schemas.openxmlformats.org/officeDocument/2006/relationships/notesMaster" Target="/ppt/notesMasters/notesMaster1.xml" Id="Rd316db22c94246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f8663fb0eb4fa7" /><Relationship Type="http://schemas.openxmlformats.org/officeDocument/2006/relationships/notesMaster" Target="/ppt/notesMasters/notesMaster1.xml" Id="R867af299e44743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https://www.kohls.com/product/prd-7863438/womens-sonoma-goods-for-life-everyday-shift-dress.jsp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stage_05_product_structure_v1.json</a:t>
            </a:r>
          </a:p>
          <a:p xmlns:a="http://schemas.openxmlformats.org/drawingml/2006/main">
            <a:r>
              <a:t>- stage_06_ai_prompt_plan_v1.json</a:t>
            </a:r>
          </a:p>
          <a:p xmlns:a="http://schemas.openxmlformats.org/drawingml/2006/main">
            <a:r>
              <a:t>- stage_06_image_qa_v1.json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https://www.amazon.com/dp/B0DX26H5GX?language=en</a:t>
            </a:r>
          </a:p>
          <a:p xmlns:a="http://schemas.openxmlformats.org/drawingml/2006/main">
            <a:r>
              <a:t>- https://www.kohls.com/product/prd-3567056/womens-croft-barrow-print-challis-midi-dress.jsp</a:t>
            </a:r>
          </a:p>
          <a:p xmlns:a="http://schemas.openxmlformats.org/drawingml/2006/main">
            <a:r>
              <a:t>- https://www.amazon.com/dp/B0GJZBZX2T?language=en</a:t>
            </a:r>
          </a:p>
          <a:p xmlns:a="http://schemas.openxmlformats.org/drawingml/2006/main">
            <a:r>
              <a:t>- EC-AMZ-PROD-002: Amazon US 56件</a:t>
            </a:r>
          </a:p>
          <a:p xmlns:a="http://schemas.openxmlformats.org/drawingml/2006/main">
            <a:r>
              <a:t>- REF-KOHLS-001: Kohl's 16件部分样本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https://shop.tiktok.com/us/pdp/womens-casual-loose-fit-wide-leg-pants-adjustable-waist-long-hem/1731899640523821919</a:t>
            </a:r>
          </a:p>
          <a:p xmlns:a="http://schemas.openxmlformats.org/drawingml/2006/main">
            <a:r>
              <a:t>- https://www.tiktok.com/@jessie..anne/video/7586360430117899550</a:t>
            </a:r>
          </a:p>
          <a:p xmlns:a="http://schemas.openxmlformats.org/drawingml/2006/main">
            <a:r>
              <a:t>- https://shop.tiktok.com/us/pdp/womens-oversized-hoodie-with-unique-print-drawstring-cozy-fit/1732284329526399409</a:t>
            </a:r>
          </a:p>
          <a:p xmlns:a="http://schemas.openxmlformats.org/drawingml/2006/main">
            <a:r>
              <a:t>- EC-TTS-SHOP-002: TikTok Shop US 39件</a:t>
            </a:r>
          </a:p>
          <a:p xmlns:a="http://schemas.openxmlformats.org/drawingml/2006/main">
            <a:r>
              <a:t>- SOC-TIKTOK-001: TikTok内容90条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stage_05_product_structure_v1.json</a:t>
            </a:r>
          </a:p>
          <a:p xmlns:a="http://schemas.openxmlformats.org/drawingml/2006/main">
            <a:r>
              <a:t>- 数量为已确认商品结构，不代表销售预测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stage_04_visual_direction_v1.md</a:t>
            </a:r>
          </a:p>
          <a:p xmlns:a="http://schemas.openxmlformats.org/drawingml/2006/main">
            <a:r>
              <a:t>- stage_05_product_structure_v1.json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KS-AMZ-2608-01: AI生成；EC-AMZ-PROD-002 / DEMAND-AMZ-001</a:t>
            </a:r>
          </a:p>
          <a:p xmlns:a="http://schemas.openxmlformats.org/drawingml/2006/main">
            <a:r>
              <a:t>- KS-AMZ-2608-02: AI生成；EC-AMZ-PROD-002 / REF-KOHLS-001 / DEMAND-AMZ-001</a:t>
            </a:r>
          </a:p>
          <a:p xmlns:a="http://schemas.openxmlformats.org/drawingml/2006/main">
            <a:r>
              <a:t>- KS-AMZ-2608-03: AI生成；EC-AMZ-PROD-002 / REF-KOHLS-001</a:t>
            </a:r>
          </a:p>
          <a:p xmlns:a="http://schemas.openxmlformats.org/drawingml/2006/main">
            <a:r>
              <a:t>- KS-AMZ-2608-04: AI生成；EC-AMZ-PROD-002 / DEMAND-AMZ-001</a:t>
            </a:r>
          </a:p>
          <a:p xmlns:a="http://schemas.openxmlformats.org/drawingml/2006/main">
            <a:r>
              <a:t>- KS-AMZ-2608-05: AI生成；REF-KOHLS-001 / DEMAND-AMZ-001</a:t>
            </a:r>
          </a:p>
          <a:p xmlns:a="http://schemas.openxmlformats.org/drawingml/2006/main">
            <a:r>
              <a:t>- KS-AMZ-2608-06: AI生成；EC-AMZ-PROD-002 / DEMAND-AMZ-001</a:t>
            </a:r>
          </a:p>
          <a:p xmlns:a="http://schemas.openxmlformats.org/drawingml/2006/main">
            <a:r>
              <a:t>- KS-AMZ-2608-07: AI生成；EC-AMZ-PROD-002 / REF-KOHLS-001</a:t>
            </a:r>
          </a:p>
          <a:p xmlns:a="http://schemas.openxmlformats.org/drawingml/2006/main">
            <a:r>
              <a:t>- KS-AMZ-2608-08: AI生成；EC-AMZ-PROD-002 / REF-KOHLS-001</a:t>
            </a:r>
          </a:p>
          <a:p xmlns:a="http://schemas.openxmlformats.org/drawingml/2006/main">
            <a:r>
              <a:t>- KS-AMZ-2608-09: AI生成；REF-KOHLS-001 / DEMAND-GT-US-001</a:t>
            </a:r>
          </a:p>
          <a:p xmlns:a="http://schemas.openxmlformats.org/drawingml/2006/main">
            <a:r>
              <a:t>- KS-AMZ-2608-10: AI生成；EC-AMZ-PROD-002 / DEMAND-AMZ-001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KS-AMZ-2608-11: AI生成；EC-AMZ-PROD-002 / DEMAND-AMZ-001</a:t>
            </a:r>
          </a:p>
          <a:p xmlns:a="http://schemas.openxmlformats.org/drawingml/2006/main">
            <a:r>
              <a:t>- KS-AMZ-2608-12: AI生成；EC-AMZ-PROD-002 / DEMAND-AMZ-001</a:t>
            </a:r>
          </a:p>
          <a:p xmlns:a="http://schemas.openxmlformats.org/drawingml/2006/main">
            <a:r>
              <a:t>- KS-AMZ-2702-01: AI生成；EC-AMZ-PROD-002 / REF-KOHLS-001</a:t>
            </a:r>
          </a:p>
          <a:p xmlns:a="http://schemas.openxmlformats.org/drawingml/2006/main">
            <a:r>
              <a:t>- KS-AMZ-2702-02: AI生成；EC-AMZ-PROD-002 / DEMAND-AMZ-001</a:t>
            </a:r>
          </a:p>
          <a:p xmlns:a="http://schemas.openxmlformats.org/drawingml/2006/main">
            <a:r>
              <a:t>- KS-AMZ-2702-03: AI生成；EC-AMZ-PROD-002 / DEMAND-AMZ-001</a:t>
            </a:r>
          </a:p>
          <a:p xmlns:a="http://schemas.openxmlformats.org/drawingml/2006/main">
            <a:r>
              <a:t>- KS-AMZ-2702-04: AI生成；REF-KOHLS-001 / FASH-TREND-001</a:t>
            </a:r>
          </a:p>
          <a:p xmlns:a="http://schemas.openxmlformats.org/drawingml/2006/main">
            <a:r>
              <a:t>- KS-AMZ-2702-05: AI生成；REF-KOHLS-001 / DEMAND-AMZ-001</a:t>
            </a:r>
          </a:p>
          <a:p xmlns:a="http://schemas.openxmlformats.org/drawingml/2006/main">
            <a:r>
              <a:t>- KS-AMZ-2702-06: AI生成；EC-AMZ-PROD-002 / REF-KOHLS-001</a:t>
            </a:r>
          </a:p>
          <a:p xmlns:a="http://schemas.openxmlformats.org/drawingml/2006/main">
            <a:r>
              <a:t>- KS-AMZ-2702-07: AI生成；REF-KOHLS-001 / FASH-TREND-001</a:t>
            </a:r>
          </a:p>
          <a:p xmlns:a="http://schemas.openxmlformats.org/drawingml/2006/main">
            <a:r>
              <a:t>- KS-AMZ-2702-08: AI生成；EC-AMZ-PROD-002 / DEMAND-GT-US-001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KS-AMZ-2702-09: AI生成；REF-KOHLS-001 / DEMAND-GT-US-001</a:t>
            </a:r>
          </a:p>
          <a:p xmlns:a="http://schemas.openxmlformats.org/drawingml/2006/main">
            <a:r>
              <a:t>- KS-AMZ-2702-10: AI生成；EC-AMZ-PROD-002 / DEMAND-AMZ-001</a:t>
            </a:r>
          </a:p>
          <a:p xmlns:a="http://schemas.openxmlformats.org/drawingml/2006/main">
            <a:r>
              <a:t>- KS-AMZ-2702-11: AI生成；EC-AMZ-PROD-002 / FASH-TREND-002</a:t>
            </a:r>
          </a:p>
          <a:p xmlns:a="http://schemas.openxmlformats.org/drawingml/2006/main">
            <a:r>
              <a:t>- KS-AMZ-2702-12: AI生成；EC-AMZ-PROD-002 / FASH-TREND-002</a:t>
            </a:r>
          </a:p>
          <a:p xmlns:a="http://schemas.openxmlformats.org/drawingml/2006/main">
            <a:r>
              <a:t>- KS-AMZ-2702-13: AI生成；EC-AMZ-PROD-002 / DEMAND-AMZ-001</a:t>
            </a:r>
          </a:p>
          <a:p xmlns:a="http://schemas.openxmlformats.org/drawingml/2006/main">
            <a:r>
              <a:t>- KS-AMZ-2702-14: AI生成；EC-AMZ-PROD-002 / FASH-TREND-002</a:t>
            </a:r>
          </a:p>
          <a:p xmlns:a="http://schemas.openxmlformats.org/drawingml/2006/main">
            <a:r>
              <a:t>- KS-AMZ-2702-15: AI生成；EC-AMZ-PROD-002 / DEMAND-AMZ-001</a:t>
            </a:r>
          </a:p>
          <a:p xmlns:a="http://schemas.openxmlformats.org/drawingml/2006/main">
            <a:r>
              <a:t>- KS-AMZ-2702-16: AI生成；EC-AMZ-PROD-002 / DEMAND-AMZ-001</a:t>
            </a:r>
          </a:p>
          <a:p xmlns:a="http://schemas.openxmlformats.org/drawingml/2006/main">
            <a:r>
              <a:t>- KS-AMZ-2702-17: AI生成；EC-AMZ-PROD-002 / DEMAND-AMZ-001</a:t>
            </a:r>
          </a:p>
          <a:p xmlns:a="http://schemas.openxmlformats.org/drawingml/2006/main">
            <a:r>
              <a:t>- KS-AMZ-2702-18: AI生成；EC-AMZ-PROD-002 / DEMAND-AMZ-001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KS-TTS-2608-01: AI生成；EC-TTS-SHOP-002 / SOC-TIKTOK-001 / DEMAND-GT-US-001</a:t>
            </a:r>
          </a:p>
          <a:p xmlns:a="http://schemas.openxmlformats.org/drawingml/2006/main">
            <a:r>
              <a:t>- KS-TTS-2608-02: AI生成；EC-TTS-SHOP-002 / SOC-TIKTOK-001</a:t>
            </a:r>
          </a:p>
          <a:p xmlns:a="http://schemas.openxmlformats.org/drawingml/2006/main">
            <a:r>
              <a:t>- KS-TTS-2608-03: AI生成；EC-TTS-SHOP-002 / SOC-TIKTOK-001</a:t>
            </a:r>
          </a:p>
          <a:p xmlns:a="http://schemas.openxmlformats.org/drawingml/2006/main">
            <a:r>
              <a:t>- KS-TTS-2608-04: AI生成；SOC-TIKTOK-001 / DEMAND-GT-US-001</a:t>
            </a:r>
          </a:p>
          <a:p xmlns:a="http://schemas.openxmlformats.org/drawingml/2006/main">
            <a:r>
              <a:t>- KS-TTS-2608-05: AI生成；EC-TTS-SHOP-002 / SOC-TIKTOK-001</a:t>
            </a:r>
          </a:p>
          <a:p xmlns:a="http://schemas.openxmlformats.org/drawingml/2006/main">
            <a:r>
              <a:t>- KS-TTS-2608-06: AI生成；EC-TTS-SHOP-002 / SOC-TIKTOK-001</a:t>
            </a:r>
          </a:p>
          <a:p xmlns:a="http://schemas.openxmlformats.org/drawingml/2006/main">
            <a:r>
              <a:t>- KS-TTS-2608-07: AI生成；EC-TTS-SHOP-002 / SOC-TIKTOK-001 / FASH-TREND-003</a:t>
            </a:r>
          </a:p>
          <a:p xmlns:a="http://schemas.openxmlformats.org/drawingml/2006/main">
            <a:r>
              <a:t>- KS-TTS-2702-01: AI生成；EC-TTS-SHOP-002 / SOC-TIKTOK-001</a:t>
            </a:r>
          </a:p>
          <a:p xmlns:a="http://schemas.openxmlformats.org/drawingml/2006/main">
            <a:r>
              <a:t>- KS-TTS-2702-02: AI生成；EC-TTS-SHOP-002 / FASH-TREND-002</a:t>
            </a:r>
          </a:p>
          <a:p xmlns:a="http://schemas.openxmlformats.org/drawingml/2006/main">
            <a:r>
              <a:t>- KS-TTS-2702-03: AI生成；EC-TTS-SHOP-002 / SOC-TIKTOK-001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KS-TTS-2702-04: AI生成；EC-TTS-SHOP-002 / SOC-TIKTOK-001</a:t>
            </a:r>
          </a:p>
          <a:p xmlns:a="http://schemas.openxmlformats.org/drawingml/2006/main">
            <a:r>
              <a:t>- KS-TTS-2702-05: AI生成；EC-TTS-SHOP-002 / FASH-TREND-002</a:t>
            </a:r>
          </a:p>
          <a:p xmlns:a="http://schemas.openxmlformats.org/drawingml/2006/main">
            <a:r>
              <a:t>- KS-TTS-2702-06: AI生成；SOC-TIKTOK-001 / DEMAND-GT-US-001</a:t>
            </a:r>
          </a:p>
          <a:p xmlns:a="http://schemas.openxmlformats.org/drawingml/2006/main">
            <a:r>
              <a:t>- KS-TTS-2702-07: AI生成；EC-TTS-SHOP-002 / SOC-TIKTOK-001</a:t>
            </a:r>
          </a:p>
          <a:p xmlns:a="http://schemas.openxmlformats.org/drawingml/2006/main">
            <a:r>
              <a:t>- KS-TTS-2702-08: AI生成；EC-TTS-SHOP-002 / SOC-TIKTOK-001</a:t>
            </a:r>
          </a:p>
          <a:p xmlns:a="http://schemas.openxmlformats.org/drawingml/2006/main">
            <a:r>
              <a:t>- KS-TTS-2702-09: AI生成；EC-TTS-SHOP-002 / SOC-TIKTOK-001</a:t>
            </a:r>
          </a:p>
          <a:p xmlns:a="http://schemas.openxmlformats.org/drawingml/2006/main">
            <a:r>
              <a:t>- KS-TTS-2702-10: AI生成；EC-TTS-SHOP-002 / SOC-TIKTOK-001</a:t>
            </a:r>
          </a:p>
          <a:p xmlns:a="http://schemas.openxmlformats.org/drawingml/2006/main">
            <a:r>
              <a:t>- KS-TTS-2702-11: AI生成；EC-TTS-SHOP-002 / SOC-TIKTOK-001</a:t>
            </a:r>
          </a:p>
          <a:p xmlns:a="http://schemas.openxmlformats.org/drawingml/2006/main">
            <a:r>
              <a:t>- KS-TTS-2702-12: AI生成；EC-TTS-SHOP-002 / SOC-TIKTOK-001 / FASH-TREND-003</a:t>
            </a:r>
          </a:p>
          <a:p xmlns:a="http://schemas.openxmlformats.org/drawingml/2006/main">
            <a:r>
              <a:t>- KS-TTS-2702-13: AI生成；EC-TTS-SHOP-002 / SOC-TIKTOK-001 / FASH-TREND-004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stage_05_product_structure_v1.json</a:t>
            </a:r>
          </a:p>
          <a:p xmlns:a="http://schemas.openxmlformats.org/drawingml/2006/main">
            <a:r>
              <a:t>- stage_06_image_qa_v1.json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stage_03_trend_direction_analysis_v1.md</a:t>
            </a:r>
          </a:p>
          <a:p xmlns:a="http://schemas.openxmlformats.org/drawingml/2006/main">
            <a:r>
              <a:t>- stage_03_apify_data_map_v1.md</a:t>
            </a:r>
          </a:p>
          <a:p xmlns:a="http://schemas.openxmlformats.org/drawingml/2006/main">
            <a:r>
              <a:t>- visual_refs/stage_04/manifest.json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stage_05_product_structure_v1.json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7713869964a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db3bde087475a" /><Relationship Type="http://schemas.openxmlformats.org/officeDocument/2006/relationships/slideLayout" Target="/ppt/slideLayouts/slideLayout1.xml" Id="R50dd5bc4dcc546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dd5bc4dcc546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5efa8e22248ee" /><Relationship Type="http://schemas.openxmlformats.org/officeDocument/2006/relationships/image" Target="/ppt/media/image.jpeg" Id="R180c02f4e4204dd3" /><Relationship Type="http://schemas.openxmlformats.org/officeDocument/2006/relationships/notesSlide" Target="/ppt/notesSlides/notesSlide1.xml" Id="Rd7f763e2e4104f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69a99cc44429b" /><Relationship Type="http://schemas.openxmlformats.org/officeDocument/2006/relationships/notesSlide" Target="/ppt/notesSlides/notesSlide2.xml" Id="R972e4a6e928f4b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a1377554b4594" /><Relationship Type="http://schemas.openxmlformats.org/officeDocument/2006/relationships/image" Target="/ppt/media/image.bin" Id="Rb334d64854bb4250" /><Relationship Type="http://schemas.openxmlformats.org/officeDocument/2006/relationships/image" Target="/ppt/media/image2.jpeg" Id="R9148f5b0cd254698" /><Relationship Type="http://schemas.openxmlformats.org/officeDocument/2006/relationships/image" Target="/ppt/media/image2.bin" Id="Re05dc18e99b74e8a" /><Relationship Type="http://schemas.openxmlformats.org/officeDocument/2006/relationships/notesSlide" Target="/ppt/notesSlides/notesSlide3.xml" Id="R68542b6f3961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3ea1f75c04fcc" /><Relationship Type="http://schemas.openxmlformats.org/officeDocument/2006/relationships/image" Target="/ppt/media/image3.bin" Id="R464b6bb26d3a42ed" /><Relationship Type="http://schemas.openxmlformats.org/officeDocument/2006/relationships/image" Target="/ppt/media/image3.jpeg" Id="Rce0485c3ef8d4c09" /><Relationship Type="http://schemas.openxmlformats.org/officeDocument/2006/relationships/image" Target="/ppt/media/image4.bin" Id="Rf0b64773d1f641c9" /><Relationship Type="http://schemas.openxmlformats.org/officeDocument/2006/relationships/notesSlide" Target="/ppt/notesSlides/notesSlide4.xml" Id="R426317ab365341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ccb08d30e45f5" /><Relationship Type="http://schemas.openxmlformats.org/officeDocument/2006/relationships/chart" Target="/ppt/slides/charts/chart1.xml" Id="Rbe7ad1768f1d4060" /><Relationship Type="http://schemas.openxmlformats.org/officeDocument/2006/relationships/notesSlide" Target="/ppt/notesSlides/notesSlide5.xml" Id="R5b8bb93d8b21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64722440d4761" /><Relationship Type="http://schemas.openxmlformats.org/officeDocument/2006/relationships/notesSlide" Target="/ppt/notesSlides/notesSlide6.xml" Id="R542dfab68cf84d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3905c2fe94cd6" /><Relationship Type="http://schemas.openxmlformats.org/officeDocument/2006/relationships/image" Target="/ppt/media/image4.jpeg" Id="Rb1b97b00973b4c37" /><Relationship Type="http://schemas.openxmlformats.org/officeDocument/2006/relationships/image" Target="/ppt/media/image5.jpeg" Id="R26e2fdd25a7f4ef4" /><Relationship Type="http://schemas.openxmlformats.org/officeDocument/2006/relationships/image" Target="/ppt/media/image6.jpeg" Id="R6c9eba145f544bb3" /><Relationship Type="http://schemas.openxmlformats.org/officeDocument/2006/relationships/image" Target="/ppt/media/image7.jpeg" Id="R00f02ff47c8c4cf7" /><Relationship Type="http://schemas.openxmlformats.org/officeDocument/2006/relationships/image" Target="/ppt/media/image8.jpeg" Id="R002f6c30482d4dbb" /><Relationship Type="http://schemas.openxmlformats.org/officeDocument/2006/relationships/image" Target="/ppt/media/image9.jpeg" Id="Rd2bdcbbe35234f88" /><Relationship Type="http://schemas.openxmlformats.org/officeDocument/2006/relationships/image" Target="/ppt/media/image10.jpeg" Id="R089745bc4abc40d4" /><Relationship Type="http://schemas.openxmlformats.org/officeDocument/2006/relationships/image" Target="/ppt/media/image11.jpeg" Id="R6decaaccba334f12" /><Relationship Type="http://schemas.openxmlformats.org/officeDocument/2006/relationships/image" Target="/ppt/media/image12.jpeg" Id="Re0ddaecfb99d406b" /><Relationship Type="http://schemas.openxmlformats.org/officeDocument/2006/relationships/image" Target="/ppt/media/image13.jpeg" Id="R06882d5997274d01" /><Relationship Type="http://schemas.openxmlformats.org/officeDocument/2006/relationships/notesSlide" Target="/ppt/notesSlides/notesSlide7.xml" Id="Rc2f5873c6bcd43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b9cfac6a9447f" /><Relationship Type="http://schemas.openxmlformats.org/officeDocument/2006/relationships/image" Target="/ppt/media/image14.jpeg" Id="R4069f6166ea04e56" /><Relationship Type="http://schemas.openxmlformats.org/officeDocument/2006/relationships/image" Target="/ppt/media/image15.jpeg" Id="R13288a648f7a4939" /><Relationship Type="http://schemas.openxmlformats.org/officeDocument/2006/relationships/image" Target="/ppt/media/image16.jpeg" Id="Rfe23d8601363424b" /><Relationship Type="http://schemas.openxmlformats.org/officeDocument/2006/relationships/image" Target="/ppt/media/image17.jpeg" Id="R9fdd976857d141cc" /><Relationship Type="http://schemas.openxmlformats.org/officeDocument/2006/relationships/image" Target="/ppt/media/image18.jpeg" Id="R97ed0b531f6c4110" /><Relationship Type="http://schemas.openxmlformats.org/officeDocument/2006/relationships/image" Target="/ppt/media/image19.jpeg" Id="R0abf10dd48c94ce0" /><Relationship Type="http://schemas.openxmlformats.org/officeDocument/2006/relationships/image" Target="/ppt/media/image20.jpeg" Id="R50e1057d92654a25" /><Relationship Type="http://schemas.openxmlformats.org/officeDocument/2006/relationships/image" Target="/ppt/media/image21.jpeg" Id="R323c16bfd3144e44" /><Relationship Type="http://schemas.openxmlformats.org/officeDocument/2006/relationships/image" Target="/ppt/media/image22.jpeg" Id="R640419b3e6384204" /><Relationship Type="http://schemas.openxmlformats.org/officeDocument/2006/relationships/image" Target="/ppt/media/image23.jpeg" Id="R01ec030bc91a4e2a" /><Relationship Type="http://schemas.openxmlformats.org/officeDocument/2006/relationships/notesSlide" Target="/ppt/notesSlides/notesSlide8.xml" Id="Rfc0325042e9941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2773def624920" /><Relationship Type="http://schemas.openxmlformats.org/officeDocument/2006/relationships/image" Target="/ppt/media/image24.jpeg" Id="R567cf5803cdb4051" /><Relationship Type="http://schemas.openxmlformats.org/officeDocument/2006/relationships/image" Target="/ppt/media/image25.jpeg" Id="R43a685377ba24278" /><Relationship Type="http://schemas.openxmlformats.org/officeDocument/2006/relationships/image" Target="/ppt/media/image26.jpeg" Id="Rc4e88ef411744499" /><Relationship Type="http://schemas.openxmlformats.org/officeDocument/2006/relationships/image" Target="/ppt/media/image27.jpeg" Id="Radfcdcf850394554" /><Relationship Type="http://schemas.openxmlformats.org/officeDocument/2006/relationships/image" Target="/ppt/media/image28.jpeg" Id="R24f8861b689d494d" /><Relationship Type="http://schemas.openxmlformats.org/officeDocument/2006/relationships/image" Target="/ppt/media/image29.jpeg" Id="R2253ec6881954b43" /><Relationship Type="http://schemas.openxmlformats.org/officeDocument/2006/relationships/image" Target="/ppt/media/image30.jpeg" Id="R193feeaec7c44d7f" /><Relationship Type="http://schemas.openxmlformats.org/officeDocument/2006/relationships/image" Target="/ppt/media/image31.jpeg" Id="R2bf01c1dcad84d1f" /><Relationship Type="http://schemas.openxmlformats.org/officeDocument/2006/relationships/image" Target="/ppt/media/image32.jpeg" Id="Rc5d323ab65d74a12" /><Relationship Type="http://schemas.openxmlformats.org/officeDocument/2006/relationships/image" Target="/ppt/media/image33.jpeg" Id="R86652bf78ffc4917" /><Relationship Type="http://schemas.openxmlformats.org/officeDocument/2006/relationships/notesSlide" Target="/ppt/notesSlides/notesSlide9.xml" Id="Rb7924b363db144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3f844a56e4dd3" /><Relationship Type="http://schemas.openxmlformats.org/officeDocument/2006/relationships/image" Target="/ppt/media/image34.jpeg" Id="R29e6328b68584bd4" /><Relationship Type="http://schemas.openxmlformats.org/officeDocument/2006/relationships/image" Target="/ppt/media/image35.jpeg" Id="Rc111426a9a554e9e" /><Relationship Type="http://schemas.openxmlformats.org/officeDocument/2006/relationships/image" Target="/ppt/media/image36.jpeg" Id="Rc142d09449a1489f" /><Relationship Type="http://schemas.openxmlformats.org/officeDocument/2006/relationships/image" Target="/ppt/media/image37.jpeg" Id="R3afb7d195afa45c8" /><Relationship Type="http://schemas.openxmlformats.org/officeDocument/2006/relationships/image" Target="/ppt/media/image38.jpeg" Id="Reffe2ee4c5094ffb" /><Relationship Type="http://schemas.openxmlformats.org/officeDocument/2006/relationships/image" Target="/ppt/media/image39.jpeg" Id="R354d08c5744f41ab" /><Relationship Type="http://schemas.openxmlformats.org/officeDocument/2006/relationships/image" Target="/ppt/media/image40.jpeg" Id="Rddf2992258fd4b2d" /><Relationship Type="http://schemas.openxmlformats.org/officeDocument/2006/relationships/image" Target="/ppt/media/image41.jpeg" Id="R347163d8ea3f4135" /><Relationship Type="http://schemas.openxmlformats.org/officeDocument/2006/relationships/image" Target="/ppt/media/image42.jpeg" Id="R0f17591b1eca4763" /><Relationship Type="http://schemas.openxmlformats.org/officeDocument/2006/relationships/image" Target="/ppt/media/image43.jpeg" Id="R204453054fd147e4" /><Relationship Type="http://schemas.openxmlformats.org/officeDocument/2006/relationships/notesSlide" Target="/ppt/notesSlides/notesSlide10.xml" Id="R06c92c1f965242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910098ca048d4" /><Relationship Type="http://schemas.openxmlformats.org/officeDocument/2006/relationships/image" Target="/ppt/media/image44.jpeg" Id="R9c94cc6d6f9645bb" /><Relationship Type="http://schemas.openxmlformats.org/officeDocument/2006/relationships/image" Target="/ppt/media/image45.jpeg" Id="R24c0e01a12354589" /><Relationship Type="http://schemas.openxmlformats.org/officeDocument/2006/relationships/image" Target="/ppt/media/image46.jpeg" Id="R46430401220b4d95" /><Relationship Type="http://schemas.openxmlformats.org/officeDocument/2006/relationships/image" Target="/ppt/media/image47.jpeg" Id="R736831937ad04201" /><Relationship Type="http://schemas.openxmlformats.org/officeDocument/2006/relationships/image" Target="/ppt/media/image48.jpeg" Id="R614d943e3d444004" /><Relationship Type="http://schemas.openxmlformats.org/officeDocument/2006/relationships/image" Target="/ppt/media/image49.jpeg" Id="R57e4e481ef3b4379" /><Relationship Type="http://schemas.openxmlformats.org/officeDocument/2006/relationships/image" Target="/ppt/media/image50.jpeg" Id="Raa808dd1f92b4e67" /><Relationship Type="http://schemas.openxmlformats.org/officeDocument/2006/relationships/image" Target="/ppt/media/image51.jpeg" Id="Rd336a3b92f0043ee" /><Relationship Type="http://schemas.openxmlformats.org/officeDocument/2006/relationships/image" Target="/ppt/media/image52.jpeg" Id="Rf79b98ba0d91458b" /><Relationship Type="http://schemas.openxmlformats.org/officeDocument/2006/relationships/image" Target="/ppt/media/image53.jpeg" Id="R7c4e43419b21439d" /><Relationship Type="http://schemas.openxmlformats.org/officeDocument/2006/relationships/notesSlide" Target="/ppt/notesSlides/notesSlide11.xml" Id="R09bf7d428ef341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303d577ff451c" /><Relationship Type="http://schemas.openxmlformats.org/officeDocument/2006/relationships/chart" Target="/ppt/slides/charts/chart2.xml" Id="R1e45191528154f9c" /><Relationship Type="http://schemas.openxmlformats.org/officeDocument/2006/relationships/notesSlide" Target="/ppt/notesSlides/notesSlide12.xml" Id="R7e47df812dee48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d7f0c854d4d1a" /><Relationship Type="http://schemas.openxmlformats.org/officeDocument/2006/relationships/notesSlide" Target="/ppt/notesSlides/notesSlide13.xml" Id="R905de2bbe9f341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a9f12a4c34a40" /><Relationship Type="http://schemas.openxmlformats.org/officeDocument/2006/relationships/notesSlide" Target="/ppt/notesSlides/notesSlide14.xml" Id="R7b712204c57040f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款数</c:v>
          </c:tx>
          <c:spPr>
            <a:solidFill xmlns:a="http://schemas.openxmlformats.org/drawingml/2006/main">
              <a:srgbClr val="35636B"/>
            </a:solidFill>
          </c:spPr>
          <c:cat>
            <c:strLit>
              <c:ptCount val="5"/>
              <c:pt idx="0">
                <c:v>上衣</c:v>
              </c:pt>
              <c:pt idx="1">
                <c:v>裤装</c:v>
              </c:pt>
              <c:pt idx="2">
                <c:v>连衣裙</c:v>
              </c:pt>
              <c:pt idx="3">
                <c:v>卫衣</c:v>
              </c:pt>
              <c:pt idx="4">
                <c:v>套装</c:v>
              </c:pt>
            </c:strLit>
          </c:cat>
          <c:val>
            <c:numLit>
              <c:formatCode>General</c:formatCode>
              <c:ptCount val="5"/>
              <c:pt idx="0">
                <c:v>15</c:v>
              </c:pt>
              <c:pt idx="1">
                <c:v>14</c:v>
              </c:pt>
              <c:pt idx="2">
                <c:v>9</c:v>
              </c:pt>
              <c:pt idx="3">
                <c:v>7</c:v>
              </c:pt>
              <c:pt idx="4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D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款数</c:v>
          </c:tx>
          <c:cat>
            <c:strLit>
              <c:ptCount val="3"/>
              <c:pt idx="0">
                <c:v>目标内可行</c:v>
              </c:pt>
              <c:pt idx="1">
                <c:v>临界可行</c:v>
              </c:pt>
              <c:pt idx="2">
                <c:v>成本高风险</c:v>
              </c:pt>
            </c:strLit>
          </c:cat>
          <c:val>
            <c:numLit>
              <c:formatCode>General</c:formatCode>
              <c:ptCount val="3"/>
              <c:pt idx="0">
                <c:v>18</c:v>
              </c:pt>
              <c:pt idx="1">
                <c:v>15</c:v>
              </c:pt>
              <c:pt idx="2">
                <c:v>17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c02f4e4204dd3"/>
          <a:srcRect xmlns:a="http://schemas.openxmlformats.org/drawingml/2006/main" l="9722" t="0" r="9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AD194-CF42-4269-8ED9-967AF239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636B"/>
                </a:solidFill>
              </a:defRPr>
            </a:pPr>
            <a:r>
              <a:rPr sz="1050" b="1">
                <a:solidFill>
                  <a:srgbClr val="35636B"/>
                </a:solidFill>
              </a:rPr>
              <a:t>KALESHU · UNITED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C2173-A4B4-4E13-A694-ED58EE9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52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91D1F"/>
                </a:solidFill>
              </a:defRPr>
            </a:pPr>
            <a:r>
              <a:rPr sz="4650" b="1">
                <a:solidFill>
                  <a:srgbClr val="191D1F"/>
                </a:solidFill>
              </a:rPr>
              <a:t>卡乐鼠</a:t>
            </a:r>
          </a:p>
          <a:p xmlns:a="http://schemas.openxmlformats.org/drawingml/2006/main">
            <a:pPr algn="l">
              <a:defRPr sz="4650" b="1">
                <a:solidFill>
                  <a:srgbClr val="191D1F"/>
                </a:solidFill>
              </a:defRPr>
            </a:pPr>
            <a:r>
              <a:rPr sz="4650" b="1">
                <a:solidFill>
                  <a:srgbClr val="191D1F"/>
                </a:solidFill>
              </a:rPr>
              <a:t>50 款新品企划案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CDC41-573F-4C8A-B410-2E264B1D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74"/>
                </a:solidFill>
              </a:defRPr>
            </a:pPr>
            <a:r>
              <a:rPr sz="1800" b="0">
                <a:solidFill>
                  <a:srgbClr val="667074"/>
                </a:solidFill>
              </a:rPr>
              <a:t>Amazon US 与 TikTok Shop US 双产品线</a:t>
            </a:r>
          </a:p>
          <a:p xmlns:a="http://schemas.openxmlformats.org/drawingml/2006/main">
            <a:pPr algn="l">
              <a:defRPr sz="1800" b="0">
                <a:solidFill>
                  <a:srgbClr val="667074"/>
                </a:solidFill>
              </a:defRPr>
            </a:pPr>
            <a:r>
              <a:rPr sz="1800" b="0">
                <a:solidFill>
                  <a:srgbClr val="667074"/>
                </a:solidFill>
              </a:rPr>
              <a:t>2026-08 快反 · 2027-02 主开发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1A41B-5F0E-4702-A4A2-88046A40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D1F"/>
                </a:solidFill>
              </a:defRPr>
            </a:pPr>
            <a:r>
              <a:rPr sz="1350" b="1">
                <a:solidFill>
                  <a:srgbClr val="191D1F"/>
                </a:solidFill>
              </a:rPr>
              <a:t>USD 10-20  |  目标成本 RMB 35 以内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43C61-4D01-45AE-A169-CD2F3C45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38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3A42"/>
                </a:solidFill>
              </a:defRPr>
            </a:pPr>
            <a:r>
              <a:rPr sz="825" b="1">
                <a:solidFill>
                  <a:srgbClr val="A63A42"/>
                </a:solidFill>
              </a:rPr>
              <a:t>真实市场参考</a:t>
            </a:r>
          </a:p>
        </p:txBody>
      </p:sp>
    </p:spTree>
    <p:extLst>
      <p:ext uri="{BB962C8B-B14F-4D97-AF65-F5344CB8AC3E}">
        <p14:creationId xmlns:p14="http://schemas.microsoft.com/office/powerpoint/2010/main" val="1280986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88369-DF56-44DB-AFB9-51C6286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01 / PLANNING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D1754-CF2B-4899-9FFE-BE19CBC6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50 款是新品设计，不是参考款复制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CD977-1FCB-4064-95C6-0F039232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5A775-F92D-4014-ACAE-8690FAD8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6B"/>
                </a:solidFill>
              </a:defRPr>
            </a:pPr>
            <a:r>
              <a:rPr sz="1875" b="1">
                <a:solidFill>
                  <a:srgbClr val="35636B"/>
                </a:solidFill>
              </a:rPr>
              <a:t>双产品线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CBFB0-C375-4C65-859D-CD54506B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Amazon 30 款</a:t>
            </a:r>
          </a:p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TikTok Shop 20 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0C020-59FA-4962-902E-4AD4F203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95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63A42"/>
                </a:solidFill>
              </a:defRPr>
            </a:pPr>
            <a:r>
              <a:rPr sz="1875" b="1">
                <a:solidFill>
                  <a:srgbClr val="A63A42"/>
                </a:solidFill>
              </a:rPr>
              <a:t>双波段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54F09-F20C-4EDA-BAAB-C99293F6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2026-08：19 款</a:t>
            </a:r>
          </a:p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2027-02：31 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A96B9-68E0-41DF-A07B-698E40E9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22C"/>
                </a:solidFill>
              </a:defRPr>
            </a:pPr>
            <a:r>
              <a:rPr sz="1875" b="1">
                <a:solidFill>
                  <a:srgbClr val="D6A22C"/>
                </a:solidFill>
              </a:rPr>
              <a:t>五品类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71851-2D89-474A-9847-6DA80ED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上衣 15 · 裤装 14</a:t>
            </a:r>
          </a:p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连衣裙 9 · 卫衣 7 · 套装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C89D9-A58A-41DF-83D0-E67B6D5E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95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6B"/>
                </a:solidFill>
              </a:defRPr>
            </a:pPr>
            <a:r>
              <a:rPr sz="1875" b="1">
                <a:solidFill>
                  <a:srgbClr val="35636B"/>
                </a:solidFill>
              </a:rPr>
              <a:t>成本分层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C8107-624B-4117-9E02-46E5C091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目标内 18 · 临界 15</a:t>
            </a:r>
          </a:p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高风险 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06EEA-2EE3-4DBF-84C1-70BB2B4A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1D1F"/>
                </a:solidFill>
              </a:defRPr>
            </a:pPr>
            <a:r>
              <a:rPr sz="2100" b="1">
                <a:solidFill>
                  <a:srgbClr val="191D1F"/>
                </a:solidFill>
              </a:rPr>
              <a:t>市场图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82845-E0BD-49ED-83F7-44985AED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74"/>
                </a:solidFill>
              </a:defRPr>
            </a:pPr>
            <a:r>
              <a:rPr sz="1425" b="0">
                <a:solidFill>
                  <a:srgbClr val="667074"/>
                </a:solidFill>
              </a:rPr>
              <a:t>验证趋势与渠道方向</a:t>
            </a:r>
          </a:p>
          <a:p xmlns:a="http://schemas.openxmlformats.org/drawingml/2006/main">
            <a:pPr algn="l">
              <a:defRPr sz="1425" b="0">
                <a:solidFill>
                  <a:srgbClr val="667074"/>
                </a:solidFill>
              </a:defRPr>
            </a:pPr>
            <a:r>
              <a:rPr sz="1425" b="0">
                <a:solidFill>
                  <a:srgbClr val="667074"/>
                </a:solidFill>
              </a:rPr>
              <a:t>不作为最终款式图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74275-2095-4AAD-84AD-47F8C7F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95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63A42"/>
                </a:solidFill>
              </a:defRPr>
            </a:pPr>
            <a:r>
              <a:rPr sz="2700" b="1">
                <a:solidFill>
                  <a:srgbClr val="A63A4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97980-A667-4178-93AF-FE22DC92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1D1F"/>
                </a:solidFill>
              </a:defRPr>
            </a:pPr>
            <a:r>
              <a:rPr sz="2100" b="1">
                <a:solidFill>
                  <a:srgbClr val="191D1F"/>
                </a:solidFill>
              </a:rPr>
              <a:t>结构矩阵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E628B-CE9E-4408-960F-0A20E285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74"/>
                </a:solidFill>
              </a:defRPr>
            </a:pPr>
            <a:r>
              <a:rPr sz="1425" b="0">
                <a:solidFill>
                  <a:srgbClr val="667074"/>
                </a:solidFill>
              </a:rPr>
              <a:t>平台 / 波段 / 品类 / 廓形</a:t>
            </a:r>
          </a:p>
          <a:p xmlns:a="http://schemas.openxmlformats.org/drawingml/2006/main">
            <a:pPr algn="l">
              <a:defRPr sz="1425" b="0">
                <a:solidFill>
                  <a:srgbClr val="667074"/>
                </a:solidFill>
              </a:defRPr>
            </a:pPr>
            <a:r>
              <a:rPr sz="1425" b="0">
                <a:solidFill>
                  <a:srgbClr val="667074"/>
                </a:solidFill>
              </a:rPr>
              <a:t>售价 / 成本 / evidence_id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8A573-C61A-4129-9905-76AFC1AA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63A42"/>
                </a:solidFill>
              </a:defRPr>
            </a:pPr>
            <a:r>
              <a:rPr sz="2700" b="1">
                <a:solidFill>
                  <a:srgbClr val="A63A4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6D559-E339-4E30-B835-90DB0E6B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1D1F"/>
                </a:solidFill>
              </a:defRPr>
            </a:pPr>
            <a:r>
              <a:rPr sz="2100" b="1">
                <a:solidFill>
                  <a:srgbClr val="191D1F"/>
                </a:solidFill>
              </a:rPr>
              <a:t>AI 设计图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70951-CC45-498D-960D-2B22D000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74"/>
                </a:solidFill>
              </a:defRPr>
            </a:pPr>
            <a:r>
              <a:rPr sz="1425" b="0">
                <a:solidFill>
                  <a:srgbClr val="667074"/>
                </a:solidFill>
              </a:rPr>
              <a:t>一款一图；重复与偏差项重生</a:t>
            </a:r>
          </a:p>
          <a:p xmlns:a="http://schemas.openxmlformats.org/drawingml/2006/main">
            <a:pPr algn="l">
              <a:defRPr sz="1425" b="0">
                <a:solidFill>
                  <a:srgbClr val="667074"/>
                </a:solidFill>
              </a:defRPr>
            </a:pPr>
            <a:r>
              <a:rPr sz="1425" b="0">
                <a:solidFill>
                  <a:srgbClr val="667074"/>
                </a:solidFill>
              </a:rPr>
              <a:t>打样前仍需版师与供应链复核</a:t>
            </a:r>
          </a:p>
        </p:txBody>
      </p:sp>
    </p:spTree>
    <p:extLst>
      <p:ext uri="{BB962C8B-B14F-4D97-AF65-F5344CB8AC3E}">
        <p14:creationId xmlns:p14="http://schemas.microsoft.com/office/powerpoint/2010/main" val="6929183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CF087-2B3C-44B7-9C70-D2FAAD6F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02 / AMAZON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3766F-92CB-4CF5-9835-6265E788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Amazon 以成熟易穿与轻商务建立 30 款基本盘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950ED-664E-44A8-A814-DE728933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4d64854bb4250"/>
          <a:stretch xmlns:a="http://schemas.openxmlformats.org/drawingml/2006/main"/>
        </p:blipFill>
        <p:spPr>
          <a:xfrm xmlns:a="http://schemas.openxmlformats.org/drawingml/2006/main">
            <a:off x="833919" y="1600200"/>
            <a:ext cx="2142162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2265D-D379-4209-96B9-5C71997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D1F"/>
                </a:solidFill>
              </a:defRPr>
            </a:pPr>
            <a:r>
              <a:rPr sz="1350" b="1">
                <a:solidFill>
                  <a:srgbClr val="191D1F"/>
                </a:solidFill>
              </a:rPr>
              <a:t>A1 柔性轻商务上衣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6FADF-7B4D-41BB-B20D-3E858BD3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3A42"/>
                </a:solidFill>
              </a:defRPr>
            </a:pPr>
            <a:r>
              <a:rPr sz="825" b="1">
                <a:solidFill>
                  <a:srgbClr val="A63A42"/>
                </a:solidFill>
              </a:rPr>
              <a:t>真实市场参考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8f5b0cd254698"/>
          <a:stretch xmlns:a="http://schemas.openxmlformats.org/drawingml/2006/main"/>
        </p:blipFill>
        <p:spPr>
          <a:xfrm xmlns:a="http://schemas.openxmlformats.org/drawingml/2006/main">
            <a:off x="3562350" y="2019300"/>
            <a:ext cx="2590800" cy="2590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A5430-6058-4BD9-8528-281164C3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62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D1F"/>
                </a:solidFill>
              </a:defRPr>
            </a:pPr>
            <a:r>
              <a:rPr sz="1350" b="1">
                <a:solidFill>
                  <a:srgbClr val="191D1F"/>
                </a:solidFill>
              </a:rPr>
              <a:t>A2 易穿过渡季连衣裙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C19AA-C667-4E01-8BC7-75126C6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673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3A42"/>
                </a:solidFill>
              </a:defRPr>
            </a:pPr>
            <a:r>
              <a:rPr sz="825" b="1">
                <a:solidFill>
                  <a:srgbClr val="A63A42"/>
                </a:solidFill>
              </a:rPr>
              <a:t>真实市场参考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dc18e99b74e8a"/>
          <a:stretch xmlns:a="http://schemas.openxmlformats.org/drawingml/2006/main"/>
        </p:blipFill>
        <p:spPr>
          <a:xfrm xmlns:a="http://schemas.openxmlformats.org/drawingml/2006/main">
            <a:off x="7097730" y="1600200"/>
            <a:ext cx="1425539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D88C6-B5C1-42FA-BAA3-24862E1E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62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D1F"/>
                </a:solidFill>
              </a:defRPr>
            </a:pPr>
            <a:r>
              <a:rPr sz="1350" b="1">
                <a:solidFill>
                  <a:srgbClr val="191D1F"/>
                </a:solidFill>
              </a:rPr>
              <a:t>A3 非牛仔易穿裤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715F2-6CE3-4D84-985D-CFF46AC4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673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3A42"/>
                </a:solidFill>
              </a:defRPr>
            </a:pPr>
            <a:r>
              <a:rPr sz="825" b="1">
                <a:solidFill>
                  <a:srgbClr val="A63A42"/>
                </a:solidFill>
              </a:rPr>
              <a:t>真实市场参考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5CA02-E147-4F21-A322-8B6BCAD2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526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36B"/>
                </a:solidFill>
              </a:defRPr>
            </a:pPr>
            <a:r>
              <a:rPr sz="1800" b="1">
                <a:solidFill>
                  <a:srgbClr val="35636B"/>
                </a:solidFill>
              </a:rPr>
              <a:t>30+ 熟龄女性 · 宽松为主 · 日常休闲到轻商务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D0D49-1CED-4538-8F4B-08BAE7BC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200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关键版型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遮腹 Tunic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直筒 / 微 A 连衣裙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全腰或后腰松紧裤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成熟卫衣补充</a:t>
            </a:r>
          </a:p>
        </p:txBody>
      </p:sp>
    </p:spTree>
    <p:extLst>
      <p:ext uri="{BB962C8B-B14F-4D97-AF65-F5344CB8AC3E}">
        <p14:creationId xmlns:p14="http://schemas.microsoft.com/office/powerpoint/2010/main" val="417156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B09CD-218F-427E-8D89-3B27B121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03 / TIKTOK SHOP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9CEC4-6081-417A-8668-EE1B189C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TikTok Shop 以比例感和短视频识别度规划 20 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03A26-B95F-4584-A26F-6125E23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b6bb26d3a42ed"/>
          <a:stretch xmlns:a="http://schemas.openxmlformats.org/drawingml/2006/main"/>
        </p:blipFill>
        <p:spPr>
          <a:xfrm xmlns:a="http://schemas.openxmlformats.org/drawingml/2006/main">
            <a:off x="619125" y="1600200"/>
            <a:ext cx="257175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BD1B5-255D-45F9-8E33-CEB25598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D1F"/>
                </a:solidFill>
              </a:defRPr>
            </a:pPr>
            <a:r>
              <a:rPr sz="1350" b="1">
                <a:solidFill>
                  <a:srgbClr val="191D1F"/>
                </a:solidFill>
              </a:rPr>
              <a:t>T1 宽腿通勤比例裤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23F1C-364E-435C-9A7B-020230BF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3A42"/>
                </a:solidFill>
              </a:defRPr>
            </a:pPr>
            <a:r>
              <a:rPr sz="825" b="1">
                <a:solidFill>
                  <a:srgbClr val="A63A42"/>
                </a:solidFill>
              </a:rPr>
              <a:t>真实市场 / 社媒参考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485c3ef8d4c09"/>
          <a:stretch xmlns:a="http://schemas.openxmlformats.org/drawingml/2006/main"/>
        </p:blipFill>
        <p:spPr>
          <a:xfrm xmlns:a="http://schemas.openxmlformats.org/drawingml/2006/main">
            <a:off x="3893344" y="1600200"/>
            <a:ext cx="1928813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C5153-2A4C-4B94-A8C4-0263F20B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62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D1F"/>
                </a:solidFill>
              </a:defRPr>
            </a:pPr>
            <a:r>
              <a:rPr sz="1350" b="1">
                <a:solidFill>
                  <a:srgbClr val="191D1F"/>
                </a:solidFill>
              </a:rPr>
              <a:t>T3 合体基础上衣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C2F3B-0113-4145-A596-CEA64881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673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3A42"/>
                </a:solidFill>
              </a:defRPr>
            </a:pPr>
            <a:r>
              <a:rPr sz="825" b="1">
                <a:solidFill>
                  <a:srgbClr val="A63A42"/>
                </a:solidFill>
              </a:rPr>
              <a:t>真实市场 / 社媒参考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64773d1f641c9"/>
          <a:stretch xmlns:a="http://schemas.openxmlformats.org/drawingml/2006/main"/>
        </p:blipFill>
        <p:spPr>
          <a:xfrm xmlns:a="http://schemas.openxmlformats.org/drawingml/2006/main">
            <a:off x="6524625" y="1600200"/>
            <a:ext cx="2571750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E081A-103B-4FC2-BF1E-EC5E1C83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62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D1F"/>
                </a:solidFill>
              </a:defRPr>
            </a:pPr>
            <a:r>
              <a:rPr sz="1350" b="1">
                <a:solidFill>
                  <a:srgbClr val="191D1F"/>
                </a:solidFill>
              </a:rPr>
              <a:t>T3 适度 oversize 卫衣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80182-03DA-49CA-B5D8-1A73F981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673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3A42"/>
                </a:solidFill>
              </a:defRPr>
            </a:pPr>
            <a:r>
              <a:rPr sz="825" b="1">
                <a:solidFill>
                  <a:srgbClr val="A63A42"/>
                </a:solidFill>
              </a:rPr>
              <a:t>真实市场 / 社媒参考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B7631-80AF-402B-8104-648558A7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526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3A42"/>
                </a:solidFill>
              </a:defRPr>
            </a:pPr>
            <a:r>
              <a:rPr sz="1800" b="1">
                <a:solidFill>
                  <a:srgbClr val="A63A42"/>
                </a:solidFill>
              </a:rPr>
              <a:t>20-35 岁初入职场 · 合体与 oversize 双轨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5D7CC-6020-47B0-8545-0408300E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200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关键版型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高腰宽腿裤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常规衣长合体上衣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克制方领 / 小 V 领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落肩轻量卫衣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协调套装</a:t>
            </a:r>
          </a:p>
        </p:txBody>
      </p:sp>
    </p:spTree>
    <p:extLst>
      <p:ext uri="{BB962C8B-B14F-4D97-AF65-F5344CB8AC3E}">
        <p14:creationId xmlns:p14="http://schemas.microsoft.com/office/powerpoint/2010/main" val="999432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F3943-6A7C-4F0D-BDEF-6BA29A9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04 / MERCHANDISE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B0995-4252-4A3B-B72E-020CA9A0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主开发集中 2027-02，上衣与裤装承担规模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C60FF-5BE9-47C5-9211-4259F9E4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4953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7ad1768f1d406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3D845-EA15-4159-8D5C-8D22D3D7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1D1F"/>
                </a:solidFill>
              </a:defRPr>
            </a:pPr>
            <a:r>
              <a:rPr sz="1800" b="1">
                <a:solidFill>
                  <a:srgbClr val="191D1F"/>
                </a:solidFill>
              </a:rPr>
              <a:t>2026-08 只保留成熟版型快反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EDD9F-423F-4075-811C-B71314A0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4"/>
                </a:solidFill>
              </a:defRPr>
            </a:pPr>
            <a:r>
              <a:rPr sz="1350" b="0">
                <a:solidFill>
                  <a:srgbClr val="667074"/>
                </a:solidFill>
              </a:rPr>
              <a:t>19 款控制当期开发风险；31 款主开发款放在 2027-02。</a:t>
            </a:r>
          </a:p>
        </p:txBody>
      </p:sp>
    </p:spTree>
    <p:extLst>
      <p:ext uri="{BB962C8B-B14F-4D97-AF65-F5344CB8AC3E}">
        <p14:creationId xmlns:p14="http://schemas.microsoft.com/office/powerpoint/2010/main" val="1209765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84768-9187-45AA-AD9F-B40B38DE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05 / COLOR &amp;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880C3-8AA5-480E-B2CA-35F95FAD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克制中性色建立跨平台基本盘，渠道色承担识别度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B1B6A-3C0B-459F-AC3C-B2C22BCC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9C413-D6F7-44C5-9898-01260643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37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43D50-DE2E-4D3F-896D-7928FA0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D1F"/>
                </a:solidFill>
              </a:defRPr>
            </a:pPr>
            <a:r>
              <a:rPr sz="1200" b="1">
                <a:solidFill>
                  <a:srgbClr val="191D1F"/>
                </a:solidFill>
              </a:rPr>
              <a:t>Ink Navy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03273-4E9B-4072-802B-A2A300B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0"/>
            <a:ext cx="137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D503D-743E-4AF9-8411-1948FF2C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76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D1F"/>
                </a:solidFill>
              </a:defRPr>
            </a:pPr>
            <a:r>
              <a:rPr sz="1200" b="1">
                <a:solidFill>
                  <a:srgbClr val="191D1F"/>
                </a:solidFill>
              </a:rPr>
              <a:t>Soft Black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BBEA6-B64D-4827-9F5A-093A21A6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14500"/>
            <a:ext cx="137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9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0D970-634D-4096-A2BF-42BECB07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D1F"/>
                </a:solidFill>
              </a:defRPr>
            </a:pPr>
            <a:r>
              <a:rPr sz="1200" b="1">
                <a:solidFill>
                  <a:srgbClr val="191D1F"/>
                </a:solidFill>
              </a:rPr>
              <a:t>Warm Taupe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F9884-4400-49DF-A87F-CA07A6C6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137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1BAA0-ABFA-4686-B6A1-0CBC0338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76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D1F"/>
                </a:solidFill>
              </a:defRPr>
            </a:pPr>
            <a:r>
              <a:rPr sz="1200" b="1">
                <a:solidFill>
                  <a:srgbClr val="191D1F"/>
                </a:solidFill>
              </a:rPr>
              <a:t>Muted Teal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037A7-722E-4B17-8AFB-8099F286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37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0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4261E-EFC3-4A40-93B6-9F62B454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D1F"/>
                </a:solidFill>
              </a:defRPr>
            </a:pPr>
            <a:r>
              <a:rPr sz="1200" b="1">
                <a:solidFill>
                  <a:srgbClr val="191D1F"/>
                </a:solidFill>
              </a:rPr>
              <a:t>Berry Plum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86A01-5506-400B-955C-E33FC39B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137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6953C-FDEC-4286-B69B-23050F0A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D1F"/>
                </a:solidFill>
              </a:defRPr>
            </a:pPr>
            <a:r>
              <a:rPr sz="1200" b="1">
                <a:solidFill>
                  <a:srgbClr val="191D1F"/>
                </a:solidFill>
              </a:rPr>
              <a:t>Cobalt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B042A-8588-4A34-84A2-B0C161C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14500"/>
            <a:ext cx="137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F8070-8879-414A-9975-838B6F8D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76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D1F"/>
                </a:solidFill>
              </a:defRPr>
            </a:pPr>
            <a:r>
              <a:rPr sz="1200" b="1">
                <a:solidFill>
                  <a:srgbClr val="191D1F"/>
                </a:solidFill>
              </a:rPr>
              <a:t>Off White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13E37-9C4B-4C61-A1D7-3F56AA3D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63A42"/>
                </a:solidFill>
              </a:defRPr>
            </a:pPr>
            <a:r>
              <a:rPr sz="1875" b="1">
                <a:solidFill>
                  <a:srgbClr val="A63A42"/>
                </a:solidFill>
              </a:rPr>
              <a:t>供应链边界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71FE5-D53E-4ECF-99CF-9ECF958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不做：牛仔、瑜伽、皮衣、外套、皮草、棉服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A2CFA-7071-4390-9A46-CFB5129A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6B"/>
                </a:solidFill>
              </a:defRPr>
            </a:pPr>
            <a:r>
              <a:rPr sz="1875" b="1">
                <a:solidFill>
                  <a:srgbClr val="35636B"/>
                </a:solidFill>
              </a:rPr>
              <a:t>表达边界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031CA-5EA8-4D4E-89D6-D03DE70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D1F"/>
                </a:solidFill>
              </a:defRPr>
            </a:pPr>
            <a:r>
              <a:rPr sz="1500" b="0">
                <a:solidFill>
                  <a:srgbClr val="191D1F"/>
                </a:solidFill>
              </a:rPr>
              <a:t>避免：强辣妹、过度年轻、SHEIN 式视觉与复杂高价辅料</a:t>
            </a:r>
          </a:p>
        </p:txBody>
      </p:sp>
    </p:spTree>
    <p:extLst>
      <p:ext uri="{BB962C8B-B14F-4D97-AF65-F5344CB8AC3E}">
        <p14:creationId xmlns:p14="http://schemas.microsoft.com/office/powerpoint/2010/main" val="1706360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C6FB2-3BC0-41AC-9BEF-6C53C6A9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06 / 50 STYLES ·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C88DC-AB0D-45AF-A374-0A643D50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1-10 款：一款一图，结构与颜色逐款锁定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5DCD1-EC6D-41A9-A992-E1DF9851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07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97b00973b4c37"/>
          <a:stretch xmlns:a="http://schemas.openxmlformats.org/drawingml/2006/main"/>
        </p:blipFill>
        <p:spPr>
          <a:xfrm xmlns:a="http://schemas.openxmlformats.org/drawingml/2006/main">
            <a:off x="9343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19264-9B9B-448C-8821-E0A37D83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2A123-C548-478D-9B38-50F42AF6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2026-08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2fdd25a7f4ef4"/>
          <a:stretch xmlns:a="http://schemas.openxmlformats.org/drawingml/2006/main"/>
        </p:blipFill>
        <p:spPr>
          <a:xfrm xmlns:a="http://schemas.openxmlformats.org/drawingml/2006/main">
            <a:off x="31441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64DB3-618C-4229-BD2D-B785E25B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10099-3C25-4FD1-90AC-44B156C9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2026-08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eba145f544bb3"/>
          <a:stretch xmlns:a="http://schemas.openxmlformats.org/drawingml/2006/main"/>
        </p:blipFill>
        <p:spPr>
          <a:xfrm xmlns:a="http://schemas.openxmlformats.org/drawingml/2006/main">
            <a:off x="53539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F5638-AC4A-4D4C-90A5-322C944A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11E08-8A7A-4F3B-B085-91CBC50D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2026-08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02ff47c8c4cf7"/>
          <a:stretch xmlns:a="http://schemas.openxmlformats.org/drawingml/2006/main"/>
        </p:blipFill>
        <p:spPr>
          <a:xfrm xmlns:a="http://schemas.openxmlformats.org/drawingml/2006/main">
            <a:off x="75637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8F2EC-ECB7-41BA-8AE8-A5377BE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39CCE-7AC7-4965-8635-D5326C29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2026-08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f6c30482d4dbb"/>
          <a:stretch xmlns:a="http://schemas.openxmlformats.org/drawingml/2006/main"/>
        </p:blipFill>
        <p:spPr>
          <a:xfrm xmlns:a="http://schemas.openxmlformats.org/drawingml/2006/main">
            <a:off x="97735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FC61B-C727-4431-BA5F-0E89B7DD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F3800-3AAB-46DD-A2F8-DDD1E16A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2026-08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dcbbe35234f88"/>
          <a:stretch xmlns:a="http://schemas.openxmlformats.org/drawingml/2006/main"/>
        </p:blipFill>
        <p:spPr>
          <a:xfrm xmlns:a="http://schemas.openxmlformats.org/drawingml/2006/main">
            <a:off x="9343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53FD1-9DB3-4E0B-9E8B-3177DE65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19E55-1962-44B1-A661-D1B4E5D0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2026-08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745bc4abc40d4"/>
          <a:stretch xmlns:a="http://schemas.openxmlformats.org/drawingml/2006/main"/>
        </p:blipFill>
        <p:spPr>
          <a:xfrm xmlns:a="http://schemas.openxmlformats.org/drawingml/2006/main">
            <a:off x="31441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18955-CA59-42F3-A0E7-8B96B846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3BB36-FF58-4E9F-BDBD-6C945B3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2026-08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caaccba334f12"/>
          <a:stretch xmlns:a="http://schemas.openxmlformats.org/drawingml/2006/main"/>
        </p:blipFill>
        <p:spPr>
          <a:xfrm xmlns:a="http://schemas.openxmlformats.org/drawingml/2006/main">
            <a:off x="53539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85D5D-C623-42C6-84FA-4770C07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EAC6A-CEBD-4092-A4B1-0BFAF0E5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2026-08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daecfb99d406b"/>
          <a:stretch xmlns:a="http://schemas.openxmlformats.org/drawingml/2006/main"/>
        </p:blipFill>
        <p:spPr>
          <a:xfrm xmlns:a="http://schemas.openxmlformats.org/drawingml/2006/main">
            <a:off x="75637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FDDF5-227F-4B7C-920D-E37471FB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5DFF1D-BED0-4092-87E1-9D3C712D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2026-08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82d5997274d01"/>
          <a:stretch xmlns:a="http://schemas.openxmlformats.org/drawingml/2006/main"/>
        </p:blipFill>
        <p:spPr>
          <a:xfrm xmlns:a="http://schemas.openxmlformats.org/drawingml/2006/main">
            <a:off x="97735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022E47-FC01-499E-8169-5B6D12D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AA3928-8841-4625-ABC2-EB96272B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2026-08</a:t>
            </a:r>
          </a:p>
        </p:txBody>
      </p:sp>
    </p:spTree>
    <p:extLst>
      <p:ext uri="{BB962C8B-B14F-4D97-AF65-F5344CB8AC3E}">
        <p14:creationId xmlns:p14="http://schemas.microsoft.com/office/powerpoint/2010/main" val="821079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4A9A-05DC-4EBE-B3BB-49DA0C8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06 / 50 STYLES ·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B43AC-585B-466D-950D-BA05D2C5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11-20 款：一款一图，结构与颜色逐款锁定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FB60F-6602-4804-8B0D-84888006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08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9f6166ea04e56"/>
          <a:stretch xmlns:a="http://schemas.openxmlformats.org/drawingml/2006/main"/>
        </p:blipFill>
        <p:spPr>
          <a:xfrm xmlns:a="http://schemas.openxmlformats.org/drawingml/2006/main">
            <a:off x="9343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F4497-0094-4BFC-ADF7-B94294C1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06A8E-11F6-40A7-BF6B-4045607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2026-08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88a648f7a4939"/>
          <a:stretch xmlns:a="http://schemas.openxmlformats.org/drawingml/2006/main"/>
        </p:blipFill>
        <p:spPr>
          <a:xfrm xmlns:a="http://schemas.openxmlformats.org/drawingml/2006/main">
            <a:off x="31441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71D3D-F4AC-4901-8FD5-B2CAFBE2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KS-AMZ-2608-12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34E06-1442-4BBC-99F8-FB4C6AE2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卫衣 · 2026-08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3d8601363424b"/>
          <a:stretch xmlns:a="http://schemas.openxmlformats.org/drawingml/2006/main"/>
        </p:blipFill>
        <p:spPr>
          <a:xfrm xmlns:a="http://schemas.openxmlformats.org/drawingml/2006/main">
            <a:off x="53539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97604-BA2E-4D11-8555-BE257F52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5E09-A9A7-4C76-A608-8E344FD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2027-02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d976857d141cc"/>
          <a:stretch xmlns:a="http://schemas.openxmlformats.org/drawingml/2006/main"/>
        </p:blipFill>
        <p:spPr>
          <a:xfrm xmlns:a="http://schemas.openxmlformats.org/drawingml/2006/main">
            <a:off x="75637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BA2E3-ACAE-4BD7-BD9E-27C17C0D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A5968-C68F-4C57-A84D-77AAC93E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2027-02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d0b531f6c4110"/>
          <a:stretch xmlns:a="http://schemas.openxmlformats.org/drawingml/2006/main"/>
        </p:blipFill>
        <p:spPr>
          <a:xfrm xmlns:a="http://schemas.openxmlformats.org/drawingml/2006/main">
            <a:off x="97735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AEA97-E1E2-4C29-ADBF-E3453008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87CD3-5432-4D08-A5B5-181AF395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2027-02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f10dd48c94ce0"/>
          <a:stretch xmlns:a="http://schemas.openxmlformats.org/drawingml/2006/main"/>
        </p:blipFill>
        <p:spPr>
          <a:xfrm xmlns:a="http://schemas.openxmlformats.org/drawingml/2006/main">
            <a:off x="9343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BFCBA-1025-43EF-A271-5C55541A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02BB4-5374-4706-AB6F-64702377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2027-02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1057d92654a25"/>
          <a:stretch xmlns:a="http://schemas.openxmlformats.org/drawingml/2006/main"/>
        </p:blipFill>
        <p:spPr>
          <a:xfrm xmlns:a="http://schemas.openxmlformats.org/drawingml/2006/main">
            <a:off x="31441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076C3-76B3-49FD-92D0-60B8FEB7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DFDBA-CCE2-4288-A400-5BE90913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2027-02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c16bfd3144e44"/>
          <a:stretch xmlns:a="http://schemas.openxmlformats.org/drawingml/2006/main"/>
        </p:blipFill>
        <p:spPr>
          <a:xfrm xmlns:a="http://schemas.openxmlformats.org/drawingml/2006/main">
            <a:off x="53539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C9D3A0-2CF2-4048-A3E2-A483DBFB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85B0E-C74A-47D6-813D-609CD4E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2027-02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419b3e6384204"/>
          <a:stretch xmlns:a="http://schemas.openxmlformats.org/drawingml/2006/main"/>
        </p:blipFill>
        <p:spPr>
          <a:xfrm xmlns:a="http://schemas.openxmlformats.org/drawingml/2006/main">
            <a:off x="75637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BE869-2BFF-4DB9-B278-7D34E16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52776A-8859-41B0-871F-01A379E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2027-02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c030bc91a4e2a"/>
          <a:stretch xmlns:a="http://schemas.openxmlformats.org/drawingml/2006/main"/>
        </p:blipFill>
        <p:spPr>
          <a:xfrm xmlns:a="http://schemas.openxmlformats.org/drawingml/2006/main">
            <a:off x="97735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C98B0-C0A4-438E-8A1E-0777ADE2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E9FA73-B5E8-4D5E-8D49-0AE1F2A7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2027-02</a:t>
            </a:r>
          </a:p>
        </p:txBody>
      </p:sp>
    </p:spTree>
    <p:extLst>
      <p:ext uri="{BB962C8B-B14F-4D97-AF65-F5344CB8AC3E}">
        <p14:creationId xmlns:p14="http://schemas.microsoft.com/office/powerpoint/2010/main" val="1229922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F0B03-3DAD-4F83-8A4A-DA37B2E8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06 / 50 STYLES ·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9A7B0-3D84-44FF-BB7C-D778E7F9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21-30 款：一款一图，结构与颜色逐款锁定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BD90E-B16C-4B9B-A1D5-71E0D98C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09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cf5803cdb4051"/>
          <a:stretch xmlns:a="http://schemas.openxmlformats.org/drawingml/2006/main"/>
        </p:blipFill>
        <p:spPr>
          <a:xfrm xmlns:a="http://schemas.openxmlformats.org/drawingml/2006/main">
            <a:off x="9343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F6BC4-621E-464B-813A-E467D610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8207B-1097-471E-B7E3-E5CF2CAA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2027-02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685377ba24278"/>
          <a:stretch xmlns:a="http://schemas.openxmlformats.org/drawingml/2006/main"/>
        </p:blipFill>
        <p:spPr>
          <a:xfrm xmlns:a="http://schemas.openxmlformats.org/drawingml/2006/main">
            <a:off x="31441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E34A6-037E-4C6F-A226-161505D6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02FDA-ADB4-4096-A5DA-7D75C219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连衣裙 · 2027-02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88ef411744499"/>
          <a:stretch xmlns:a="http://schemas.openxmlformats.org/drawingml/2006/main"/>
        </p:blipFill>
        <p:spPr>
          <a:xfrm xmlns:a="http://schemas.openxmlformats.org/drawingml/2006/main">
            <a:off x="53539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EA3E3-57F6-4BF7-BF67-89FE3822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A9C8F-2E96-4E7B-B7A0-2B31CD88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cdcf850394554"/>
          <a:stretch xmlns:a="http://schemas.openxmlformats.org/drawingml/2006/main"/>
        </p:blipFill>
        <p:spPr>
          <a:xfrm xmlns:a="http://schemas.openxmlformats.org/drawingml/2006/main">
            <a:off x="75637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585ED-DD35-460B-AACA-C565FABD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28183-0229-4567-AD4E-6AAD7A6E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8861b689d494d"/>
          <a:stretch xmlns:a="http://schemas.openxmlformats.org/drawingml/2006/main"/>
        </p:blipFill>
        <p:spPr>
          <a:xfrm xmlns:a="http://schemas.openxmlformats.org/drawingml/2006/main">
            <a:off x="97735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4B8F2-9EEC-4652-8F7C-DB9E846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8AE86-3DC6-4D96-A3BD-6EE8ABFB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3ec6881954b43"/>
          <a:stretch xmlns:a="http://schemas.openxmlformats.org/drawingml/2006/main"/>
        </p:blipFill>
        <p:spPr>
          <a:xfrm xmlns:a="http://schemas.openxmlformats.org/drawingml/2006/main">
            <a:off x="9343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045FF-6932-41D4-A7DD-8AE5E910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D4E3D-9037-4E6F-8976-0957892D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feeaec7c44d7f"/>
          <a:stretch xmlns:a="http://schemas.openxmlformats.org/drawingml/2006/main"/>
        </p:blipFill>
        <p:spPr>
          <a:xfrm xmlns:a="http://schemas.openxmlformats.org/drawingml/2006/main">
            <a:off x="31441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A9E6C-69CC-42F9-A85A-1726763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82216-1601-405F-849D-BB0D030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卫衣 · 2027-02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01c1dcad84d1f"/>
          <a:stretch xmlns:a="http://schemas.openxmlformats.org/drawingml/2006/main"/>
        </p:blipFill>
        <p:spPr>
          <a:xfrm xmlns:a="http://schemas.openxmlformats.org/drawingml/2006/main">
            <a:off x="53539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1C3B18-0074-47ED-9CDA-89138337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08BE2-C473-4ED7-ADC5-573A133D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卫衣 · 2027-02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323ab65d74a12"/>
          <a:stretch xmlns:a="http://schemas.openxmlformats.org/drawingml/2006/main"/>
        </p:blipFill>
        <p:spPr>
          <a:xfrm xmlns:a="http://schemas.openxmlformats.org/drawingml/2006/main">
            <a:off x="75637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ADEC49-585A-464C-891B-39A7280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86390B-3A83-468C-9D70-F9924251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套装 · 2027-02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52bf78ffc4917"/>
          <a:stretch xmlns:a="http://schemas.openxmlformats.org/drawingml/2006/main"/>
        </p:blipFill>
        <p:spPr>
          <a:xfrm xmlns:a="http://schemas.openxmlformats.org/drawingml/2006/main">
            <a:off x="97735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8CD9B3-8001-4E38-B036-110BE3C9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6B"/>
                </a:solidFill>
              </a:defRPr>
            </a:pPr>
            <a:r>
              <a:rPr sz="975" b="1">
                <a:solidFill>
                  <a:srgbClr val="35636B"/>
                </a:solidFill>
              </a:rPr>
              <a:t>KS-AMZ-2702-18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1377A1-8CDC-444B-968B-5DCF935E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套装 · 2027-02</a:t>
            </a:r>
          </a:p>
        </p:txBody>
      </p:sp>
    </p:spTree>
    <p:extLst>
      <p:ext uri="{BB962C8B-B14F-4D97-AF65-F5344CB8AC3E}">
        <p14:creationId xmlns:p14="http://schemas.microsoft.com/office/powerpoint/2010/main" val="5189362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21AFF7-EA30-4E22-B577-877FA650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06 / 50 STYLES ·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BCF29-D3E1-4E49-A5B8-4AC6FFE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31-40 款：一款一图，结构与颜色逐款锁定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67A78-925E-4444-9E94-77EDBF7E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10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6328b68584bd4"/>
          <a:stretch xmlns:a="http://schemas.openxmlformats.org/drawingml/2006/main"/>
        </p:blipFill>
        <p:spPr>
          <a:xfrm xmlns:a="http://schemas.openxmlformats.org/drawingml/2006/main">
            <a:off x="9343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F2DD1-780E-420B-8377-16CCC35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KS-TTS-2608-01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F0343-131B-4F98-AF91-F79EEF40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2026-08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1426a9a554e9e"/>
          <a:stretch xmlns:a="http://schemas.openxmlformats.org/drawingml/2006/main"/>
        </p:blipFill>
        <p:spPr>
          <a:xfrm xmlns:a="http://schemas.openxmlformats.org/drawingml/2006/main">
            <a:off x="31441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54B15-99C8-4BBF-A977-F87335F7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KS-TTS-2608-02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62369-4E35-4930-B36B-28CF1E6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2026-08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2d09449a1489f"/>
          <a:stretch xmlns:a="http://schemas.openxmlformats.org/drawingml/2006/main"/>
        </p:blipFill>
        <p:spPr>
          <a:xfrm xmlns:a="http://schemas.openxmlformats.org/drawingml/2006/main">
            <a:off x="53539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7C2D9-E425-445B-8ED6-47ED263B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KS-TTS-2608-03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12D5F-36F1-4B1E-8688-0AD41457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2026-08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b7d195afa45c8"/>
          <a:stretch xmlns:a="http://schemas.openxmlformats.org/drawingml/2006/main"/>
        </p:blipFill>
        <p:spPr>
          <a:xfrm xmlns:a="http://schemas.openxmlformats.org/drawingml/2006/main">
            <a:off x="75637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1997D-9ED7-468B-8AAF-A015E83A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KS-TTS-2608-04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F90C1-656C-4703-B855-E357362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2026-08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e2ee4c5094ffb"/>
          <a:stretch xmlns:a="http://schemas.openxmlformats.org/drawingml/2006/main"/>
        </p:blipFill>
        <p:spPr>
          <a:xfrm xmlns:a="http://schemas.openxmlformats.org/drawingml/2006/main">
            <a:off x="97735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CC8BA-1328-48E9-A1F7-0898B56E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KS-TTS-2608-05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1C4D4-832E-492A-A2DF-4268EB66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2026-08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d08c5744f41ab"/>
          <a:stretch xmlns:a="http://schemas.openxmlformats.org/drawingml/2006/main"/>
        </p:blipFill>
        <p:spPr>
          <a:xfrm xmlns:a="http://schemas.openxmlformats.org/drawingml/2006/main">
            <a:off x="9343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159B4-1682-46A5-A054-59892D32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KS-TTS-2608-06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22F9D-D882-4D2B-899B-30F8C669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2026-08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2992258fd4b2d"/>
          <a:stretch xmlns:a="http://schemas.openxmlformats.org/drawingml/2006/main"/>
        </p:blipFill>
        <p:spPr>
          <a:xfrm xmlns:a="http://schemas.openxmlformats.org/drawingml/2006/main">
            <a:off x="31441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0326E-124A-4F93-A1A5-94517B5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KS-TTS-2608-07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6EC8F-8BA1-42F6-8023-D99406A4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套装 · 2026-08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163d8ea3f4135"/>
          <a:stretch xmlns:a="http://schemas.openxmlformats.org/drawingml/2006/main"/>
        </p:blipFill>
        <p:spPr>
          <a:xfrm xmlns:a="http://schemas.openxmlformats.org/drawingml/2006/main">
            <a:off x="53539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6D531-87F7-4F8B-A7C1-62AD6073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03553-AB46-4C1F-90D0-0E57870E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7591b1eca4763"/>
          <a:stretch xmlns:a="http://schemas.openxmlformats.org/drawingml/2006/main"/>
        </p:blipFill>
        <p:spPr>
          <a:xfrm xmlns:a="http://schemas.openxmlformats.org/drawingml/2006/main">
            <a:off x="75637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B34D9-C992-4929-8237-EACFCD07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3AF5A7-1729-435D-B18D-E7D5854E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453054fd147e4"/>
          <a:stretch xmlns:a="http://schemas.openxmlformats.org/drawingml/2006/main"/>
        </p:blipFill>
        <p:spPr>
          <a:xfrm xmlns:a="http://schemas.openxmlformats.org/drawingml/2006/main">
            <a:off x="97735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0EB22A-2F26-4162-B273-34F28BE3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0A6562-A673-4042-9730-48D62D0D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</p:spTree>
    <p:extLst>
      <p:ext uri="{BB962C8B-B14F-4D97-AF65-F5344CB8AC3E}">
        <p14:creationId xmlns:p14="http://schemas.microsoft.com/office/powerpoint/2010/main" val="1595744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93691-3F19-4EAC-9DC7-CC081A2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06 / 50 STYLES ·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D83FB-CB2B-42A1-8553-85305A09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41-50 款：一款一图，结构与颜色逐款锁定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DC021-A652-4B56-9A88-32994535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11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4cc6d6f9645bb"/>
          <a:stretch xmlns:a="http://schemas.openxmlformats.org/drawingml/2006/main"/>
        </p:blipFill>
        <p:spPr>
          <a:xfrm xmlns:a="http://schemas.openxmlformats.org/drawingml/2006/main">
            <a:off x="9343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B50C7-2398-41C6-B882-00A81288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19673-AE34-4111-9153-62F97C3B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0e01a12354589"/>
          <a:stretch xmlns:a="http://schemas.openxmlformats.org/drawingml/2006/main"/>
        </p:blipFill>
        <p:spPr>
          <a:xfrm xmlns:a="http://schemas.openxmlformats.org/drawingml/2006/main">
            <a:off x="31441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E3408-F682-4792-A4CE-7FD394BC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9EA37-F864-4EC7-8087-DA676FE0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裤装 · 2027-02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30401220b4d95"/>
          <a:stretch xmlns:a="http://schemas.openxmlformats.org/drawingml/2006/main"/>
        </p:blipFill>
        <p:spPr>
          <a:xfrm xmlns:a="http://schemas.openxmlformats.org/drawingml/2006/main">
            <a:off x="53539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7D92F-5509-4D37-B6AF-4D0A0F3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2F73F-63CD-4F29-9BB7-AEB8EE44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2027-02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831937ad04201"/>
          <a:stretch xmlns:a="http://schemas.openxmlformats.org/drawingml/2006/main"/>
        </p:blipFill>
        <p:spPr>
          <a:xfrm xmlns:a="http://schemas.openxmlformats.org/drawingml/2006/main">
            <a:off x="75637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39A0F-D8C2-417D-BD6F-5D5F58C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47CFB-1979-4327-AA68-D786C6A7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上衣 · 2027-02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d943e3d444004"/>
          <a:stretch xmlns:a="http://schemas.openxmlformats.org/drawingml/2006/main"/>
        </p:blipFill>
        <p:spPr>
          <a:xfrm xmlns:a="http://schemas.openxmlformats.org/drawingml/2006/main">
            <a:off x="9773539" y="142875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08F1D-305F-4C2B-B5CE-1F99AD81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38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86F2A-829E-4E61-A30C-402210E2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卫衣 · 2027-02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4e481ef3b4379"/>
          <a:stretch xmlns:a="http://schemas.openxmlformats.org/drawingml/2006/main"/>
        </p:blipFill>
        <p:spPr>
          <a:xfrm xmlns:a="http://schemas.openxmlformats.org/drawingml/2006/main">
            <a:off x="9343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06FAC-E877-4BC1-9DD6-E9565D61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F768C-FD67-4241-8AAF-8B3AABD7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卫衣 · 2027-02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08dd1f92b4e67"/>
          <a:stretch xmlns:a="http://schemas.openxmlformats.org/drawingml/2006/main"/>
        </p:blipFill>
        <p:spPr>
          <a:xfrm xmlns:a="http://schemas.openxmlformats.org/drawingml/2006/main">
            <a:off x="31441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AA6109-1B0B-417D-8D78-C422BD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7FB6F-DC56-47C0-879F-99DE01B0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卫衣 · 2027-02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6a3b92f0043ee"/>
          <a:stretch xmlns:a="http://schemas.openxmlformats.org/drawingml/2006/main"/>
        </p:blipFill>
        <p:spPr>
          <a:xfrm xmlns:a="http://schemas.openxmlformats.org/drawingml/2006/main">
            <a:off x="53539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538C1-7CB8-499E-88F7-31606E1F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22F3E-D9A6-4BBB-8B21-071689C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卫衣 · 2027-02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b98ba0d91458b"/>
          <a:stretch xmlns:a="http://schemas.openxmlformats.org/drawingml/2006/main"/>
        </p:blipFill>
        <p:spPr>
          <a:xfrm xmlns:a="http://schemas.openxmlformats.org/drawingml/2006/main">
            <a:off x="75637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72785-16A3-442A-85A2-1645579E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727B3-258B-4517-82B4-E3125025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套装 · 2027-02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e43419b21439d"/>
          <a:stretch xmlns:a="http://schemas.openxmlformats.org/drawingml/2006/main"/>
        </p:blipFill>
        <p:spPr>
          <a:xfrm xmlns:a="http://schemas.openxmlformats.org/drawingml/2006/main">
            <a:off x="9773539" y="3962400"/>
            <a:ext cx="1465072" cy="19621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363DE9-D35F-4115-B2E2-DD5B7F76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72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3A42"/>
                </a:solidFill>
              </a:defRPr>
            </a:pPr>
            <a:r>
              <a:rPr sz="975" b="1">
                <a:solidFill>
                  <a:srgbClr val="A63A42"/>
                </a:solidFill>
              </a:rPr>
              <a:t>KS-TTS-2702-13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A2BBB8-E035-484D-9706-730BC93E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1722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4"/>
                </a:solidFill>
              </a:defRPr>
            </a:pPr>
            <a:r>
              <a:rPr sz="975" b="0">
                <a:solidFill>
                  <a:srgbClr val="667074"/>
                </a:solidFill>
              </a:rPr>
              <a:t>套装 · 2027-02</a:t>
            </a:r>
          </a:p>
        </p:txBody>
      </p:sp>
    </p:spTree>
    <p:extLst>
      <p:ext uri="{BB962C8B-B14F-4D97-AF65-F5344CB8AC3E}">
        <p14:creationId xmlns:p14="http://schemas.microsoft.com/office/powerpoint/2010/main" val="19880523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FF87C-8450-4315-95C2-F28C9BA6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07 / COST &amp;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2DF89-B364-4DB4-85B5-C2089D51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18 款可优先推进，17 款必须先核价或降级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CFFC6-987C-4651-BFD0-673A77EA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12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4191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45191528154f9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F89B9-A713-4CF3-B9B7-1D61790A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1D1F"/>
                </a:solidFill>
              </a:defRPr>
            </a:pPr>
            <a:r>
              <a:rPr sz="2100" b="1">
                <a:solidFill>
                  <a:srgbClr val="191D1F"/>
                </a:solidFill>
              </a:rPr>
              <a:t>生图质量门槛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15127-33D9-4979-95B8-3D8AA7A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336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6B"/>
                </a:solidFill>
              </a:defRPr>
            </a:pPr>
            <a:r>
              <a:rPr sz="1875" b="1">
                <a:solidFill>
                  <a:srgbClr val="35636B"/>
                </a:solidFill>
              </a:rPr>
              <a:t>50 张有效图</a:t>
            </a:r>
          </a:p>
          <a:p xmlns:a="http://schemas.openxmlformats.org/drawingml/2006/main">
            <a:pPr algn="l">
              <a:defRPr sz="1875" b="1">
                <a:solidFill>
                  <a:srgbClr val="35636B"/>
                </a:solidFill>
              </a:defRPr>
            </a:pPr>
            <a:r>
              <a:rPr sz="1875" b="1">
                <a:solidFill>
                  <a:srgbClr val="35636B"/>
                </a:solidFill>
              </a:rPr>
              <a:t>0 张精确重复</a:t>
            </a:r>
          </a:p>
          <a:p xmlns:a="http://schemas.openxmlformats.org/drawingml/2006/main">
            <a:pPr algn="l">
              <a:defRPr sz="1875" b="1">
                <a:solidFill>
                  <a:srgbClr val="35636B"/>
                </a:solidFill>
              </a:defRPr>
            </a:pPr>
            <a:r>
              <a:rPr sz="1875" b="1">
                <a:solidFill>
                  <a:srgbClr val="35636B"/>
                </a:solidFill>
              </a:rPr>
              <a:t>0 张疑似空白</a:t>
            </a:r>
          </a:p>
          <a:p xmlns:a="http://schemas.openxmlformats.org/drawingml/2006/main">
            <a:pPr algn="l">
              <a:defRPr sz="1875" b="1">
                <a:solidFill>
                  <a:srgbClr val="35636B"/>
                </a:solidFill>
              </a:defRPr>
            </a:pPr>
            <a:r>
              <a:rPr sz="1875" b="1">
                <a:solidFill>
                  <a:srgbClr val="35636B"/>
                </a:solidFill>
              </a:rPr>
              <a:t>统一 896×1200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2B57A-87D9-4BA5-826F-48CB80A8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1D1F"/>
                </a:solidFill>
              </a:defRPr>
            </a:pPr>
            <a:r>
              <a:rPr sz="2100" b="1">
                <a:solidFill>
                  <a:srgbClr val="191D1F"/>
                </a:solidFill>
              </a:rPr>
              <a:t>处理建议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660DF-2652-4B32-8D8F-C95D6623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目标内：优先打样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临界：简化结构与辅料</a:t>
            </a:r>
          </a:p>
          <a:p xmlns:a="http://schemas.openxmlformats.org/drawingml/2006/main">
            <a:pPr algn="l">
              <a:defRPr sz="1425" b="0">
                <a:solidFill>
                  <a:srgbClr val="191D1F"/>
                </a:solidFill>
              </a:defRPr>
            </a:pPr>
            <a:r>
              <a:rPr sz="1425" b="0">
                <a:solidFill>
                  <a:srgbClr val="191D1F"/>
                </a:solidFill>
              </a:rPr>
              <a:t>高风险：逐款核价、降级或取消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03D99-4907-4D62-A35F-B05F1C09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74"/>
                </a:solidFill>
              </a:defRPr>
            </a:pPr>
            <a:r>
              <a:rPr sz="1500" b="0">
                <a:solidFill>
                  <a:srgbClr val="667074"/>
                </a:solidFill>
              </a:rPr>
              <a:t>AI 图用于设计表达，不替代纸样、面辅料测试与工厂报价。</a:t>
            </a:r>
          </a:p>
        </p:txBody>
      </p:sp>
    </p:spTree>
    <p:extLst>
      <p:ext uri="{BB962C8B-B14F-4D97-AF65-F5344CB8AC3E}">
        <p14:creationId xmlns:p14="http://schemas.microsoft.com/office/powerpoint/2010/main" val="2033672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4E77E-2688-4DA1-BE8B-4EADF094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36B"/>
                </a:solidFill>
              </a:defRPr>
            </a:pPr>
            <a:r>
              <a:rPr sz="900" b="1">
                <a:solidFill>
                  <a:srgbClr val="35636B"/>
                </a:solidFill>
              </a:rPr>
              <a:t>08 / 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2DFAE-95C1-49E9-8986-444707A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D1F"/>
                </a:solidFill>
              </a:defRPr>
            </a:pPr>
            <a:r>
              <a:rPr sz="3000" b="1">
                <a:solidFill>
                  <a:srgbClr val="191D1F"/>
                </a:solidFill>
              </a:rPr>
              <a:t>关键结论、商品结构与视觉素材均可回溯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4F54D-4878-4155-A9C7-D326086C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74"/>
                </a:solidFill>
              </a:defRPr>
            </a:pPr>
            <a:r>
              <a:rPr sz="900" b="1">
                <a:solidFill>
                  <a:srgbClr val="667074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F3F72-948F-42DD-B669-6EC4F3CE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636B"/>
                </a:solidFill>
              </a:defRPr>
            </a:pPr>
            <a:r>
              <a:rPr sz="1425" b="1">
                <a:solidFill>
                  <a:srgbClr val="35636B"/>
                </a:solidFill>
              </a:rPr>
              <a:t>EC-AMZ-PROD-002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B932B-5387-42F2-B605-7415131B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D1F"/>
                </a:solidFill>
              </a:defRPr>
            </a:pPr>
            <a:r>
              <a:rPr sz="1425" b="1">
                <a:solidFill>
                  <a:srgbClr val="191D1F"/>
                </a:solidFill>
              </a:rPr>
              <a:t>Amazon 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CF6AE-319B-441E-AC37-7F0D2407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3A42"/>
                </a:solidFill>
              </a:defRPr>
            </a:pPr>
            <a:r>
              <a:rPr sz="1425" b="1">
                <a:solidFill>
                  <a:srgbClr val="A63A42"/>
                </a:solidFill>
              </a:rPr>
              <a:t>56 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ACAC8-9849-4E1A-BEB1-6483894F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4"/>
                </a:solidFill>
              </a:defRPr>
            </a:pPr>
            <a:r>
              <a:rPr sz="1350" b="0">
                <a:solidFill>
                  <a:srgbClr val="667074"/>
                </a:solidFill>
              </a:rPr>
              <a:t>熟龄基本盘与品类方向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E820D-5C73-4D5C-9182-D95130A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636B"/>
                </a:solidFill>
              </a:defRPr>
            </a:pPr>
            <a:r>
              <a:rPr sz="1425" b="1">
                <a:solidFill>
                  <a:srgbClr val="35636B"/>
                </a:solidFill>
              </a:rPr>
              <a:t>EC-TTS-SHOP-002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13710-A461-423B-9D31-A79C8D4F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D1F"/>
                </a:solidFill>
              </a:defRPr>
            </a:pPr>
            <a:r>
              <a:rPr sz="1425" b="1">
                <a:solidFill>
                  <a:srgbClr val="191D1F"/>
                </a:solidFill>
              </a:rPr>
              <a:t>TikTok Shop 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FAB2C-A1E1-4430-807B-62F55F8E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62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3A42"/>
                </a:solidFill>
              </a:defRPr>
            </a:pPr>
            <a:r>
              <a:rPr sz="1425" b="1">
                <a:solidFill>
                  <a:srgbClr val="A63A42"/>
                </a:solidFill>
              </a:rPr>
              <a:t>39 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A9EA2-88D7-4668-AD92-4883FB59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4"/>
                </a:solidFill>
              </a:defRPr>
            </a:pPr>
            <a:r>
              <a:rPr sz="1350" b="0">
                <a:solidFill>
                  <a:srgbClr val="667074"/>
                </a:solidFill>
              </a:rPr>
              <a:t>宽腿裤、合体上衣、卫衣与套装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CC42A-B31E-4A9F-9F0E-7C5D263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636B"/>
                </a:solidFill>
              </a:defRPr>
            </a:pPr>
            <a:r>
              <a:rPr sz="1425" b="1">
                <a:solidFill>
                  <a:srgbClr val="35636B"/>
                </a:solidFill>
              </a:rPr>
              <a:t>SOC-TIKTOK-001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3DBAD-4952-494C-9070-B6878ADF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D1F"/>
                </a:solidFill>
              </a:defRPr>
            </a:pPr>
            <a:r>
              <a:rPr sz="1425" b="1">
                <a:solidFill>
                  <a:srgbClr val="191D1F"/>
                </a:solidFill>
              </a:rPr>
              <a:t>TikTok 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8B2CF-9882-4E7F-9950-FCA6D8CD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3A42"/>
                </a:solidFill>
              </a:defRPr>
            </a:pPr>
            <a:r>
              <a:rPr sz="1425" b="1">
                <a:solidFill>
                  <a:srgbClr val="A63A42"/>
                </a:solidFill>
              </a:rPr>
              <a:t>90 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264BD-987D-474B-97D0-9C42FCEC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4"/>
                </a:solidFill>
              </a:defRPr>
            </a:pPr>
            <a:r>
              <a:rPr sz="1350" b="0">
                <a:solidFill>
                  <a:srgbClr val="667074"/>
                </a:solidFill>
              </a:rPr>
              <a:t>内容语境与视觉表达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8741E-B76E-4B21-B3F8-0E87744C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636B"/>
                </a:solidFill>
              </a:defRPr>
            </a:pPr>
            <a:r>
              <a:rPr sz="1425" b="1">
                <a:solidFill>
                  <a:srgbClr val="35636B"/>
                </a:solidFill>
              </a:rPr>
              <a:t>REF-KOHLS-001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E785F-FE26-4E6E-9026-AE034672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D1F"/>
                </a:solidFill>
              </a:defRPr>
            </a:pPr>
            <a:r>
              <a:rPr sz="1425" b="1">
                <a:solidFill>
                  <a:srgbClr val="191D1F"/>
                </a:solidFill>
              </a:rPr>
              <a:t>Kohl's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8718F-190F-48ED-AD67-20E6A6A7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3A42"/>
                </a:solidFill>
              </a:defRPr>
            </a:pPr>
            <a:r>
              <a:rPr sz="1425" b="1">
                <a:solidFill>
                  <a:srgbClr val="A63A42"/>
                </a:solidFill>
              </a:rPr>
              <a:t>16 件部分样本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9C5C0-CD1F-4391-AC2B-54BCCF9A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48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4"/>
                </a:solidFill>
              </a:defRPr>
            </a:pPr>
            <a:r>
              <a:rPr sz="1350" b="0">
                <a:solidFill>
                  <a:srgbClr val="667074"/>
                </a:solidFill>
              </a:rPr>
              <a:t>熟龄女装版型参照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BC294-70AA-4454-919D-7148F092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1D1F"/>
                </a:solidFill>
              </a:defRPr>
            </a:pPr>
            <a:r>
              <a:rPr sz="1875" b="1">
                <a:solidFill>
                  <a:srgbClr val="191D1F"/>
                </a:solidFill>
              </a:rPr>
              <a:t>数据缺口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52FB5-0BD8-4CE6-9EB0-49AAD48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74"/>
                </a:solidFill>
              </a:defRPr>
            </a:pPr>
            <a:r>
              <a:rPr sz="1425" b="0">
                <a:solidFill>
                  <a:srgbClr val="667074"/>
                </a:solidFill>
              </a:rPr>
              <a:t>无客户历史销售资料；Kohl's 为部分样本；平台数据只做方向性比较，不合并为统一销量。</a:t>
            </a:r>
          </a:p>
        </p:txBody>
      </p:sp>
    </p:spTree>
    <p:extLst>
      <p:ext uri="{BB962C8B-B14F-4D97-AF65-F5344CB8AC3E}">
        <p14:creationId xmlns:p14="http://schemas.microsoft.com/office/powerpoint/2010/main" val="687106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91D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FF50E-0EFA-4F74-A49C-A3207BC6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下一步不是继续扩款，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而是把 50 款分层打样。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299C8-7650-4D8B-8473-F8FDBDC7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22C"/>
                </a:solidFill>
              </a:defRPr>
            </a:pPr>
            <a:r>
              <a:rPr sz="2250" b="1">
                <a:solidFill>
                  <a:srgbClr val="D6A22C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0B983-4597-4BAA-B598-AF554A36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18 款目标内可行款先核版与面料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DF247-959B-49FF-B878-3F5A342D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22C"/>
                </a:solidFill>
              </a:defRPr>
            </a:pPr>
            <a:r>
              <a:rPr sz="2250" b="1">
                <a:solidFill>
                  <a:srgbClr val="D6A22C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285EC-9C4E-4ECF-BF7F-4AB3918B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15 款临界款同步做结构降级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7B68C-E032-4E4C-926C-5B43BF7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22C"/>
                </a:solidFill>
              </a:defRPr>
            </a:pPr>
            <a:r>
              <a:rPr sz="2250" b="1">
                <a:solidFill>
                  <a:srgbClr val="D6A22C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DA9C4-895C-4508-9591-CE1F5913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17 款高风险款核价后再决定投产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69AA0-1D3C-4E1F-884A-290EA5D8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6B2"/>
                </a:solidFill>
              </a:defRPr>
            </a:pPr>
            <a:r>
              <a:rPr sz="975" b="0">
                <a:solidFill>
                  <a:srgbClr val="AEB6B2"/>
                </a:solidFill>
              </a:rPr>
              <a:t>卡乐鼠美国女装新品企划 · 2026-08-07</a:t>
            </a:r>
          </a:p>
        </p:txBody>
      </p:sp>
    </p:spTree>
    <p:extLst>
      <p:ext uri="{BB962C8B-B14F-4D97-AF65-F5344CB8AC3E}">
        <p14:creationId xmlns:p14="http://schemas.microsoft.com/office/powerpoint/2010/main" val="1743284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2026-08-07T11:43:15.5440000Z</dcterms:created>
  <dcterms:modified xsi:type="dcterms:W3CDTF">2026-08-07T11:43:15.5440000Z</dcterms:modified>
</coreProperties>
</file>